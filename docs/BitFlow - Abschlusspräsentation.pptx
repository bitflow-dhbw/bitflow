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2" r:id="rId4"/>
  </p:sldMasterIdLst>
  <p:notesMasterIdLst>
    <p:notesMasterId r:id="rId31"/>
  </p:notesMasterIdLst>
  <p:handoutMasterIdLst>
    <p:handoutMasterId r:id="rId32"/>
  </p:handoutMasterIdLst>
  <p:sldIdLst>
    <p:sldId id="256" r:id="rId5"/>
    <p:sldId id="277" r:id="rId6"/>
    <p:sldId id="295" r:id="rId7"/>
    <p:sldId id="305" r:id="rId8"/>
    <p:sldId id="312" r:id="rId9"/>
    <p:sldId id="297" r:id="rId10"/>
    <p:sldId id="298" r:id="rId11"/>
    <p:sldId id="299" r:id="rId12"/>
    <p:sldId id="300" r:id="rId13"/>
    <p:sldId id="304" r:id="rId14"/>
    <p:sldId id="301" r:id="rId15"/>
    <p:sldId id="313" r:id="rId16"/>
    <p:sldId id="314" r:id="rId17"/>
    <p:sldId id="315" r:id="rId18"/>
    <p:sldId id="316" r:id="rId19"/>
    <p:sldId id="317" r:id="rId20"/>
    <p:sldId id="318" r:id="rId21"/>
    <p:sldId id="320" r:id="rId22"/>
    <p:sldId id="319" r:id="rId23"/>
    <p:sldId id="302" r:id="rId24"/>
    <p:sldId id="307" r:id="rId25"/>
    <p:sldId id="306" r:id="rId26"/>
    <p:sldId id="308" r:id="rId27"/>
    <p:sldId id="303" r:id="rId28"/>
    <p:sldId id="309" r:id="rId29"/>
    <p:sldId id="276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5" name="Author" initials="A" lastIdx="0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commentAuthors" Target="commentAuthors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5A4BAD4-14F2-4D4A-BAC1-A644C6A8B8B8}" type="datetime1">
              <a:rPr lang="de-DE" smtClean="0"/>
              <a:t>03.06.2026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F9A36D-7FAC-478F-9944-F324014F6F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e-DE" noProof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0F6048-6F8A-4683-A7AB-9FF3D1DE1A65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4B9A9E5-4F7F-4A7D-9DE1-899232329269}" type="slidenum">
              <a:rPr lang="de-DE" noProof="0" smtClean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Mohid </a:t>
            </a:r>
            <a:endParaRPr lang="de-DE"/>
          </a:p>
          <a:p>
            <a:endParaRPr lang="de-DE">
              <a:ea typeface="Calibri"/>
              <a:cs typeface="Calibri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8140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Mohid </a:t>
            </a:r>
            <a:endParaRPr lang="de-DE"/>
          </a:p>
          <a:p>
            <a:endParaRPr lang="de-DE">
              <a:ea typeface="Calibri"/>
              <a:cs typeface="Calibri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179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Mohid </a:t>
            </a: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3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5393218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Mohid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4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8993542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Florian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5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5705648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Florian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6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5815175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Florian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7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0693733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Moritz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8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961745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Moritz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9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8385254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Moritz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10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9885996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11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3660370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12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2946652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13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5588573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14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9211402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15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7473737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16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6616672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17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5624604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18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5325468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19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857358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>
                <a:ea typeface="Calibri"/>
                <a:cs typeface="Calibri"/>
              </a:rPr>
              <a:t>Simon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20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2485766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Simon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21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2211909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97B2-BAB4-F2D4-FEF7-5FD435AA4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5E97044-393D-06BE-411E-34E5769173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7D400F2-1BCC-D74B-7D5D-3EF011E2C3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>
                <a:ea typeface="Calibri"/>
                <a:cs typeface="Calibri"/>
              </a:rPr>
              <a:t>Simon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67B6CD1-AB48-1D5E-7A22-3BC2D486F6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22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6608971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Simon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23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7093706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>
                <a:ea typeface="Calibri"/>
                <a:cs typeface="Calibri"/>
              </a:rPr>
              <a:t>Simon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24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603976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Simon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de-DE" noProof="0" smtClean="0"/>
              <a:t>25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8388462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r>
              <a:rPr lang="de-DE"/>
              <a:t>Simon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4B9A9E5-4F7F-4A7D-9DE1-899232329269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328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9FCBC-F132-4AAE-AF84-F52F3E0CA57D}" type="datetime1">
              <a:rPr lang="de-DE" smtClean="0"/>
              <a:t>03.06.2026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BitFlow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‹Nr.›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695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En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5">
            <a:extLst>
              <a:ext uri="{FF2B5EF4-FFF2-40B4-BE49-F238E27FC236}">
                <a16:creationId xmlns:a16="http://schemas.microsoft.com/office/drawing/2014/main" id="{A3658C96-6392-478C-AF37-00CF0F8D2F4D}"/>
              </a:ext>
            </a:extLst>
          </p:cNvPr>
          <p:cNvSpPr/>
          <p:nvPr userDrawn="1"/>
        </p:nvSpPr>
        <p:spPr>
          <a:xfrm>
            <a:off x="7085013" y="320675"/>
            <a:ext cx="4779244" cy="6235700"/>
          </a:xfrm>
          <a:custGeom>
            <a:avLst/>
            <a:gdLst/>
            <a:ahLst/>
            <a:cxnLst/>
            <a:rect l="l" t="t" r="r" b="b"/>
            <a:pathLst>
              <a:path w="814724" h="1267949">
                <a:moveTo>
                  <a:pt x="26914" y="0"/>
                </a:moveTo>
                <a:lnTo>
                  <a:pt x="787810" y="0"/>
                </a:lnTo>
                <a:cubicBezTo>
                  <a:pt x="802675" y="0"/>
                  <a:pt x="814724" y="12050"/>
                  <a:pt x="814724" y="26914"/>
                </a:cubicBezTo>
                <a:lnTo>
                  <a:pt x="814724" y="1241035"/>
                </a:lnTo>
                <a:cubicBezTo>
                  <a:pt x="814724" y="1255899"/>
                  <a:pt x="802675" y="1267949"/>
                  <a:pt x="787810" y="1267949"/>
                </a:cubicBezTo>
                <a:lnTo>
                  <a:pt x="26914" y="1267949"/>
                </a:lnTo>
                <a:cubicBezTo>
                  <a:pt x="12050" y="1267949"/>
                  <a:pt x="0" y="1255899"/>
                  <a:pt x="0" y="1241035"/>
                </a:cubicBezTo>
                <a:lnTo>
                  <a:pt x="0" y="26914"/>
                </a:lnTo>
                <a:cubicBezTo>
                  <a:pt x="0" y="12050"/>
                  <a:pt x="12050" y="0"/>
                  <a:pt x="26914" y="0"/>
                </a:cubicBezTo>
                <a:close/>
              </a:path>
            </a:pathLst>
          </a:custGeom>
          <a:blipFill>
            <a:blip r:embed="rId2"/>
            <a:stretch>
              <a:fillRect t="-199" b="-199"/>
            </a:stretch>
          </a:blipFill>
          <a:effectLst>
            <a:softEdge rad="127000"/>
          </a:effectLst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9FCBC-F132-4AAE-AF84-F52F3E0CA57D}" type="datetime1">
              <a:rPr lang="de-DE" smtClean="0"/>
              <a:t>03.06.2026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BitFlow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‹Nr.›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5622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2AF1D79-55E0-449A-9E71-306971139423}" type="datetime1">
              <a:rPr lang="de-DE" noProof="0" smtClean="0"/>
              <a:t>03.06.2026</a:t>
            </a:fld>
            <a:endParaRPr lang="de-DE" noProof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de-DE" noProof="0"/>
              <a:t>BitFlow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de-DE" noProof="0" smtClean="0"/>
              <a:pPr rtl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267861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37414" y="876060"/>
            <a:ext cx="5431971" cy="846301"/>
          </a:xfrm>
        </p:spPr>
        <p:txBody>
          <a:bodyPr rtlCol="0" anchor="t">
            <a:noAutofit/>
          </a:bodyPr>
          <a:lstStyle>
            <a:lvl1pPr>
              <a:defRPr lang="en-US" sz="3200" b="1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platzhalter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75464" y="1722360"/>
            <a:ext cx="5793921" cy="4259579"/>
          </a:xfrm>
        </p:spPr>
        <p:txBody>
          <a:bodyPr rtlCol="0" anchor="t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de-DE" noProof="0"/>
              <a:t>Klicken Sie, um Text hinzuzufügen.</a:t>
            </a:r>
          </a:p>
        </p:txBody>
      </p:sp>
      <p:sp>
        <p:nvSpPr>
          <p:cNvPr id="23" name="Datumsplatzhalter 6">
            <a:extLst>
              <a:ext uri="{FF2B5EF4-FFF2-40B4-BE49-F238E27FC236}">
                <a16:creationId xmlns:a16="http://schemas.microsoft.com/office/drawing/2014/main" id="{30137A80-DFDF-451C-A7D8-DCBA37E4EE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 algn="l">
              <a:defRPr sz="90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24" name="Fußzeilenplatzhalter 7">
            <a:extLst>
              <a:ext uri="{FF2B5EF4-FFF2-40B4-BE49-F238E27FC236}">
                <a16:creationId xmlns:a16="http://schemas.microsoft.com/office/drawing/2014/main" id="{30E3791F-5EAD-45DD-A582-48B9EC2FC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 algn="ctr">
              <a:defRPr sz="90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de-DE"/>
              <a:t>BitFlow</a:t>
            </a:r>
          </a:p>
        </p:txBody>
      </p:sp>
      <p:sp>
        <p:nvSpPr>
          <p:cNvPr id="25" name="Foliennummernplatzhalter 8">
            <a:extLst>
              <a:ext uri="{FF2B5EF4-FFF2-40B4-BE49-F238E27FC236}">
                <a16:creationId xmlns:a16="http://schemas.microsoft.com/office/drawing/2014/main" id="{F1C9D7B7-6E65-41C5-ABC6-475B5A654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 anchor="t"/>
          <a:lstStyle>
            <a:lvl1pPr>
              <a:defRPr sz="180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fld id="{B5CEABB6-07DC-46E8-9B57-56EC44A396E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4817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itel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28898" y="612444"/>
            <a:ext cx="8305800" cy="846301"/>
          </a:xfrm>
        </p:spPr>
        <p:txBody>
          <a:bodyPr rtlCol="0" anchor="t">
            <a:noAutofit/>
          </a:bodyPr>
          <a:lstStyle>
            <a:lvl1pPr>
              <a:defRPr lang="en-US" sz="3600" b="1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25" name="Textplatzhalter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1458745"/>
            <a:ext cx="8696499" cy="4576295"/>
          </a:xfrm>
        </p:spPr>
        <p:txBody>
          <a:bodyPr rtlCol="0" anchor="t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742950" indent="-2857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</a:lstStyle>
          <a:p>
            <a:pPr lvl="0" rtl="0"/>
            <a:r>
              <a:rPr lang="de-DE" noProof="0"/>
              <a:t>Klicken Sie, um Text hinzuzufügen.</a:t>
            </a:r>
          </a:p>
          <a:p>
            <a:pPr lvl="1" rtl="0"/>
            <a:endParaRPr lang="de-DE" noProof="0"/>
          </a:p>
        </p:txBody>
      </p:sp>
      <p:sp>
        <p:nvSpPr>
          <p:cNvPr id="21" name="Datumsplatzhalt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 algn="l">
              <a:defRPr sz="90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22" name="Fußzeilenplatzhalt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 algn="ctr">
              <a:defRPr sz="90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de-DE"/>
              <a:t>BitFlow</a:t>
            </a:r>
          </a:p>
        </p:txBody>
      </p:sp>
      <p:sp>
        <p:nvSpPr>
          <p:cNvPr id="24" name="Foliennummernplatzhalt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 anchor="t"/>
          <a:lstStyle>
            <a:lvl1pPr>
              <a:defRPr sz="180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fld id="{B5CEABB6-07DC-46E8-9B57-56EC44A396E5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6884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pPr rtl="0"/>
            <a:fld id="{CA628670-5097-4685-AD8D-4E14E3E8F3C5}" type="datetime1">
              <a:rPr lang="de-DE" noProof="0" smtClean="0"/>
              <a:t>03.06.2026</a:t>
            </a:fld>
            <a:endParaRPr lang="de-DE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r>
              <a:rPr lang="de-DE" err="1"/>
              <a:t>BitFlow</a:t>
            </a:r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pPr rtl="0"/>
            <a:fld id="{B5CEABB6-07DC-46E8-9B57-56EC44A396E5}" type="slidenum">
              <a:rPr lang="de-DE" noProof="0" smtClean="0"/>
              <a:pPr rtl="0"/>
              <a:t>‹Nr.›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4575666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3" r:id="rId1"/>
    <p:sldLayoutId id="2147483729" r:id="rId2"/>
    <p:sldLayoutId id="2147483712" r:id="rId3"/>
    <p:sldLayoutId id="2147483724" r:id="rId4"/>
    <p:sldLayoutId id="2147483728" r:id="rId5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de-DE" sz="8000" b="1" err="1"/>
              <a:t>BitFlow</a:t>
            </a:r>
            <a:endParaRPr lang="de-DE" sz="6000" b="1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4211" y="3843868"/>
            <a:ext cx="6949771" cy="1021748"/>
          </a:xfrm>
        </p:spPr>
        <p:txBody>
          <a:bodyPr rtlCol="0">
            <a:normAutofit/>
          </a:bodyPr>
          <a:lstStyle/>
          <a:p>
            <a:pPr rtl="0"/>
            <a:r>
              <a:rPr lang="de-DE" sz="4800">
                <a:solidFill>
                  <a:schemeClr val="bg2">
                    <a:lumMod val="20000"/>
                    <a:lumOff val="80000"/>
                  </a:schemeClr>
                </a:solidFill>
              </a:rPr>
              <a:t>Abschlusspräsentation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14F4632-BCF6-4592-A7C6-3834A63A5C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21131" y="5430730"/>
            <a:ext cx="1231720" cy="123172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CF4731AC-A64F-4ABE-AF63-1770EBFFAEE3}"/>
              </a:ext>
            </a:extLst>
          </p:cNvPr>
          <p:cNvSpPr txBox="1"/>
          <p:nvPr/>
        </p:nvSpPr>
        <p:spPr>
          <a:xfrm>
            <a:off x="684211" y="6257466"/>
            <a:ext cx="659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Florian Blum; Moritz Czekalski; Simon Just; Mohid Syed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19F29B-F233-48AF-8261-F33A4E079E3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7414" y="876060"/>
            <a:ext cx="5431971" cy="846301"/>
          </a:xfrm>
        </p:spPr>
        <p:txBody>
          <a:bodyPr rtlCol="0">
            <a:normAutofit/>
          </a:bodyPr>
          <a:lstStyle/>
          <a:p>
            <a:r>
              <a:rPr lang="de-DE"/>
              <a:t>Gliederung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CE32401-FE07-4033-B249-CE8E78F4369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75464" y="1722360"/>
            <a:ext cx="5793921" cy="4259579"/>
          </a:xfrm>
        </p:spPr>
        <p:txBody>
          <a:bodyPr anchor="t">
            <a:normAutofit fontScale="92500" lnSpcReduction="2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/>
              <a:t>Projektvision</a:t>
            </a:r>
          </a:p>
          <a:p>
            <a:pPr marL="457200" indent="-457200">
              <a:buFont typeface="+mj-lt"/>
              <a:buAutoNum type="arabicPeriod"/>
            </a:pPr>
            <a:r>
              <a:rPr lang="de-DE"/>
              <a:t>Architekturentscheidungen</a:t>
            </a:r>
          </a:p>
          <a:p>
            <a:pPr marL="457200" indent="-457200">
              <a:buFont typeface="+mj-lt"/>
              <a:buAutoNum type="arabicPeriod"/>
            </a:pPr>
            <a:r>
              <a:rPr lang="de-DE"/>
              <a:t>Design-Patterns</a:t>
            </a:r>
          </a:p>
          <a:p>
            <a:pPr marL="457200" indent="-457200">
              <a:buFont typeface="+mj-lt"/>
              <a:buAutoNum type="arabicPeriod"/>
            </a:pPr>
            <a:r>
              <a:rPr lang="de-DE"/>
              <a:t>Tech-Stack</a:t>
            </a:r>
          </a:p>
          <a:p>
            <a:pPr marL="457200" indent="-457200">
              <a:buFont typeface="+mj-lt"/>
              <a:buAutoNum type="arabicPeriod"/>
            </a:pPr>
            <a:r>
              <a:rPr lang="de-DE"/>
              <a:t>Qualitätssicherung</a:t>
            </a:r>
          </a:p>
          <a:p>
            <a:pPr marL="457200" indent="-457200">
              <a:buFont typeface="+mj-lt"/>
              <a:buAutoNum type="arabicPeriod"/>
            </a:pPr>
            <a:r>
              <a:rPr lang="de-DE"/>
              <a:t>CI/CD-Pipeline</a:t>
            </a:r>
          </a:p>
          <a:p>
            <a:pPr marL="457200" indent="-457200">
              <a:buFont typeface="+mj-lt"/>
              <a:buAutoNum type="arabicPeriod"/>
            </a:pPr>
            <a:r>
              <a:rPr lang="de-DE"/>
              <a:t>Live Demonstration</a:t>
            </a:r>
          </a:p>
          <a:p>
            <a:pPr marL="457200" indent="-457200">
              <a:buFont typeface="+mj-lt"/>
              <a:buAutoNum type="arabicPeriod"/>
            </a:pPr>
            <a:r>
              <a:rPr lang="de-DE"/>
              <a:t>Projektmanagement</a:t>
            </a:r>
          </a:p>
          <a:p>
            <a:pPr marL="457200" indent="-457200">
              <a:buFont typeface="+mj-lt"/>
              <a:buAutoNum type="arabicPeriod"/>
            </a:pPr>
            <a:r>
              <a:rPr lang="de-DE" err="1"/>
              <a:t>Learnings</a:t>
            </a:r>
            <a:endParaRPr lang="de-DE">
              <a:ea typeface="Cambria"/>
            </a:endParaRPr>
          </a:p>
          <a:p>
            <a:pPr marL="457200" indent="-457200">
              <a:buClr>
                <a:srgbClr val="FFFFFF"/>
              </a:buClr>
              <a:buAutoNum type="arabicPeriod"/>
            </a:pPr>
            <a:r>
              <a:rPr lang="de-DE">
                <a:ea typeface="Cambria"/>
              </a:rPr>
              <a:t>Ausblick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B69DF042-37C5-4E09-AA4C-AA66649C95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/>
          <a:p>
            <a:fld id="{5BC0D1D7-437C-405F-8618-152340F86906}" type="datetime1">
              <a:rPr lang="de-DE" smtClean="0">
                <a:solidFill>
                  <a:schemeClr val="bg2">
                    <a:lumMod val="75000"/>
                  </a:schemeClr>
                </a:solidFill>
              </a:rPr>
              <a:pPr/>
              <a:t>03.06.2026</a:t>
            </a:fld>
            <a:endParaRPr lang="de-DE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F29EA23-F34E-486A-B8B2-0C3019266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r>
              <a:rPr lang="de-DE" err="1"/>
              <a:t>BitFlow</a:t>
            </a:r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28F602C-7F98-4C02-99D4-ED65E00D6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/>
          <a:p>
            <a:fld id="{19B51A1E-902D-48AF-9020-955120F399B6}" type="slidenum">
              <a:rPr lang="de-DE" smtClean="0"/>
              <a:pPr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Projektvision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E2054D-57CA-4D2C-B6D9-F12C51C7A4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/>
              <a:t>Browserbasierter Editor + Simulator für Logikschaltungen</a:t>
            </a:r>
          </a:p>
          <a:p>
            <a:r>
              <a:rPr lang="de-DE"/>
              <a:t>Ziele: </a:t>
            </a:r>
          </a:p>
          <a:p>
            <a:pPr lvl="1"/>
            <a:r>
              <a:rPr lang="de-DE"/>
              <a:t>Gatter-Simulation</a:t>
            </a:r>
          </a:p>
          <a:p>
            <a:pPr lvl="1"/>
            <a:r>
              <a:rPr lang="de-DE"/>
              <a:t>visuelle Schaltungsbearbeitung</a:t>
            </a:r>
          </a:p>
          <a:p>
            <a:pPr lvl="1"/>
            <a:r>
              <a:rPr lang="de-DE"/>
              <a:t>Signalvisualisierung</a:t>
            </a:r>
          </a:p>
          <a:p>
            <a:pPr lvl="1"/>
            <a:r>
              <a:rPr lang="de-DE"/>
              <a:t>Intuitive Bedienung</a:t>
            </a:r>
          </a:p>
          <a:p>
            <a:pPr lvl="1"/>
            <a:r>
              <a:rPr lang="de-DE"/>
              <a:t>Gemeinsames Lernen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30198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Projektvision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E2054D-57CA-4D2C-B6D9-F12C51C7A4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/>
              <a:t>Funktionen: </a:t>
            </a:r>
          </a:p>
          <a:p>
            <a:pPr lvl="1"/>
            <a:r>
              <a:rPr lang="de-DE"/>
              <a:t>Drag &amp; Drop</a:t>
            </a:r>
            <a:endParaRPr lang="de-DE">
              <a:ea typeface="Cambria" panose="02040503050406030204"/>
            </a:endParaRPr>
          </a:p>
          <a:p>
            <a:pPr lvl="1"/>
            <a:r>
              <a:rPr lang="de-DE"/>
              <a:t>Echtzeitsimulation</a:t>
            </a:r>
            <a:endParaRPr lang="de-DE">
              <a:ea typeface="Cambria" panose="02040503050406030204"/>
            </a:endParaRPr>
          </a:p>
          <a:p>
            <a:pPr lvl="1"/>
            <a:r>
              <a:rPr lang="de-DE"/>
              <a:t>Eigene Gatter</a:t>
            </a:r>
            <a:endParaRPr lang="de-DE">
              <a:ea typeface="Cambria" panose="02040503050406030204"/>
            </a:endParaRPr>
          </a:p>
          <a:p>
            <a:pPr lvl="1"/>
            <a:r>
              <a:rPr lang="de-DE"/>
              <a:t>Mehrbenutzer-Sessions</a:t>
            </a:r>
            <a:endParaRPr lang="de-DE">
              <a:ea typeface="Cambria" panose="02040503050406030204"/>
            </a:endParaRPr>
          </a:p>
          <a:p>
            <a:pPr lvl="1"/>
            <a:r>
              <a:rPr lang="de-DE"/>
              <a:t>Anpassbares UI</a:t>
            </a:r>
            <a:endParaRPr lang="de-DE">
              <a:ea typeface="Cambria" panose="02040503050406030204"/>
            </a:endParaRPr>
          </a:p>
          <a:p>
            <a:pPr lvl="1"/>
            <a:r>
              <a:rPr lang="de-DE"/>
              <a:t>Riesiger Canvas</a:t>
            </a:r>
            <a:endParaRPr lang="de-DE">
              <a:ea typeface="Cambria" panose="02040503050406030204"/>
            </a:endParaRPr>
          </a:p>
          <a:p>
            <a:endParaRPr lang="de-DE">
              <a:ea typeface="Cambria" panose="02040503050406030204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4090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Architekturentscheidungen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E2054D-57CA-4D2C-B6D9-F12C51C7A4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r>
              <a:rPr lang="de-DE">
                <a:ea typeface="Cambria" panose="02040503050406030204"/>
              </a:rPr>
              <a:t>Komponentenstruktur</a:t>
            </a:r>
          </a:p>
          <a:p>
            <a:pPr>
              <a:buClr>
                <a:srgbClr val="FFFFFF"/>
              </a:buClr>
            </a:pPr>
            <a:r>
              <a:rPr lang="de-DE">
                <a:ea typeface="Cambria" panose="02040503050406030204"/>
              </a:rPr>
              <a:t>Single Page </a:t>
            </a:r>
            <a:r>
              <a:rPr lang="de-DE" err="1">
                <a:ea typeface="Cambria" panose="02040503050406030204"/>
              </a:rPr>
              <a:t>Application</a:t>
            </a:r>
            <a:endParaRPr lang="de-DE">
              <a:ea typeface="Cambria" panose="02040503050406030204"/>
            </a:endParaRPr>
          </a:p>
          <a:p>
            <a:pPr>
              <a:buClr>
                <a:srgbClr val="FFFFFF"/>
              </a:buClr>
            </a:pPr>
            <a:r>
              <a:rPr lang="de-DE">
                <a:ea typeface="Cambria" panose="02040503050406030204"/>
              </a:rPr>
              <a:t>Trennen von UI, Schaltungslogik und Persistenz</a:t>
            </a:r>
          </a:p>
          <a:p>
            <a:pPr marL="0" indent="0">
              <a:buClr>
                <a:srgbClr val="FFFFFF"/>
              </a:buClr>
              <a:buNone/>
            </a:pPr>
            <a:r>
              <a:rPr lang="de-DE">
                <a:ea typeface="Cambria" panose="02040503050406030204"/>
              </a:rPr>
              <a:t>  ⇒ UI bleibt responsiv</a:t>
            </a:r>
          </a:p>
          <a:p>
            <a:pPr>
              <a:buClr>
                <a:srgbClr val="FFFFFF"/>
              </a:buClr>
            </a:pPr>
            <a:r>
              <a:rPr lang="de-DE">
                <a:ea typeface="Cambria" panose="02040503050406030204"/>
              </a:rPr>
              <a:t>Lokale Simulation im </a:t>
            </a:r>
            <a:r>
              <a:rPr lang="de-DE" err="1">
                <a:ea typeface="Cambria" panose="02040503050406030204"/>
              </a:rPr>
              <a:t>Clien</a:t>
            </a:r>
            <a:r>
              <a:rPr lang="de-DE">
                <a:ea typeface="Cambria" panose="02040503050406030204"/>
              </a:rPr>
              <a:t>t</a:t>
            </a:r>
          </a:p>
          <a:p>
            <a:pPr marL="0" indent="0">
              <a:buClr>
                <a:srgbClr val="FFFFFF"/>
              </a:buClr>
              <a:buNone/>
            </a:pPr>
            <a:r>
              <a:rPr lang="de-DE">
                <a:ea typeface="Cambria" panose="02040503050406030204"/>
              </a:rPr>
              <a:t>  ⇒ Schnellere Darstellung</a:t>
            </a:r>
          </a:p>
          <a:p>
            <a:pPr>
              <a:buClr>
                <a:srgbClr val="FFFFFF"/>
              </a:buClr>
            </a:pPr>
            <a:r>
              <a:rPr lang="de-DE">
                <a:ea typeface="Cambria" panose="02040503050406030204"/>
              </a:rPr>
              <a:t>Erweiterbare Bausteinbibliothek</a:t>
            </a:r>
          </a:p>
          <a:p>
            <a:endParaRPr lang="de-DE">
              <a:ea typeface="Cambria" panose="02040503050406030204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3762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Design-Patterns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E2054D-57CA-4D2C-B6D9-F12C51C7A4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 dirty="0"/>
              <a:t>Factory - Baustein-Erzeugung</a:t>
            </a:r>
          </a:p>
          <a:p>
            <a:r>
              <a:rPr lang="de-DE" dirty="0" err="1"/>
              <a:t>Strategy</a:t>
            </a:r>
            <a:r>
              <a:rPr lang="de-DE" dirty="0"/>
              <a:t> - Simulations- / Validierungsstrategien</a:t>
            </a:r>
            <a:endParaRPr lang="de-DE" dirty="0">
              <a:ea typeface="Cambria"/>
            </a:endParaRPr>
          </a:p>
          <a:p>
            <a:r>
              <a:rPr lang="de-DE" dirty="0"/>
              <a:t>Composite - Custom Components aus Sub-Schaltungen</a:t>
            </a:r>
          </a:p>
          <a:p>
            <a:pPr>
              <a:buClr>
                <a:srgbClr val="FFFFFF"/>
              </a:buClr>
            </a:pPr>
            <a:r>
              <a:rPr lang="de-DE">
                <a:ea typeface="Cambria" panose="02040503050406030204"/>
              </a:rPr>
              <a:t>Observer - UI-Updates</a:t>
            </a:r>
            <a:endParaRPr lang="de-DE"/>
          </a:p>
          <a:p>
            <a:pPr>
              <a:buClr>
                <a:srgbClr val="FFFFFF"/>
              </a:buClr>
            </a:pPr>
            <a:r>
              <a:rPr lang="de-DE" dirty="0">
                <a:ea typeface="Cambria"/>
              </a:rPr>
              <a:t>Repository - Persistenz</a:t>
            </a:r>
            <a:endParaRPr lang="de-DE" dirty="0"/>
          </a:p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87894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Tech-Stack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platzhalter 2">
                <a:extLst>
                  <a:ext uri="{FF2B5EF4-FFF2-40B4-BE49-F238E27FC236}">
                    <a16:creationId xmlns:a16="http://schemas.microsoft.com/office/drawing/2014/main" id="{05E2054D-57CA-4D2C-B6D9-F12C51C7A458}"/>
                  </a:ext>
                </a:extLst>
              </p:cNvPr>
              <p:cNvSpPr>
                <a:spLocks noGrp="1"/>
              </p:cNvSpPr>
              <p:nvPr>
                <p:ph type="body" sz="quarter" idx="15"/>
              </p:nvPr>
            </p:nvSpPr>
            <p:spPr>
              <a:xfrm>
                <a:off x="838199" y="1471035"/>
                <a:ext cx="8696499" cy="4576295"/>
              </a:xfrm>
            </p:spPr>
            <p:txBody>
              <a:bodyPr>
                <a:normAutofit/>
              </a:bodyPr>
              <a:lstStyle/>
              <a:p>
                <a:r>
                  <a:rPr lang="de-DE" b="1"/>
                  <a:t>Frontend</a:t>
                </a:r>
              </a:p>
              <a:p>
                <a:pPr lvl="1"/>
                <a:r>
                  <a:rPr lang="de-DE" err="1"/>
                  <a:t>React</a:t>
                </a:r>
                <a:r>
                  <a:rPr lang="de-DE"/>
                  <a:t> (Vite)</a:t>
                </a:r>
              </a:p>
              <a:p>
                <a:pPr lvl="1"/>
                <a:r>
                  <a:rPr lang="de-DE" err="1"/>
                  <a:t>TypeScript</a:t>
                </a:r>
                <a:r>
                  <a:rPr lang="de-DE"/>
                  <a:t> </a:t>
                </a:r>
              </a:p>
              <a:p>
                <a:r>
                  <a:rPr lang="de-DE" b="1"/>
                  <a:t>Backend</a:t>
                </a:r>
              </a:p>
              <a:p>
                <a:pPr lvl="1"/>
                <a:r>
                  <a:rPr lang="de-DE"/>
                  <a:t>ASP.NET Core (.NET 8)</a:t>
                </a:r>
              </a:p>
              <a:p>
                <a:pPr lvl="1"/>
                <a:r>
                  <a:rPr lang="de-DE"/>
                  <a:t>EF Core (SQLite)</a:t>
                </a:r>
              </a:p>
              <a:p>
                <a:r>
                  <a:rPr lang="de-DE" b="1" err="1"/>
                  <a:t>Deployment</a:t>
                </a:r>
                <a:endParaRPr lang="de-DE" b="1"/>
              </a:p>
              <a:p>
                <a:pPr lvl="1"/>
                <a:r>
                  <a:rPr lang="de-DE"/>
                  <a:t>Docker </a:t>
                </a:r>
              </a:p>
              <a:p>
                <a:pPr lvl="1"/>
                <a:r>
                  <a:rPr lang="de-DE" err="1"/>
                  <a:t>nginx</a:t>
                </a:r>
                <a:r>
                  <a:rPr lang="de-DE"/>
                  <a:t> </a:t>
                </a:r>
              </a:p>
              <a:p>
                <a:pPr lvl="1"/>
                <a:r>
                  <a:rPr lang="de-DE"/>
                  <a:t>CI: GitHub Actions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/>
                  <a:t> GHCR</a:t>
                </a:r>
              </a:p>
              <a:p>
                <a:endParaRPr lang="de-DE"/>
              </a:p>
            </p:txBody>
          </p:sp>
        </mc:Choice>
        <mc:Fallback xmlns="">
          <p:sp>
            <p:nvSpPr>
              <p:cNvPr id="3" name="Textplatzhalter 2">
                <a:extLst>
                  <a:ext uri="{FF2B5EF4-FFF2-40B4-BE49-F238E27FC236}">
                    <a16:creationId xmlns:a16="http://schemas.microsoft.com/office/drawing/2014/main" id="{05E2054D-57CA-4D2C-B6D9-F12C51C7A4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5"/>
              </p:nvPr>
            </p:nvSpPr>
            <p:spPr>
              <a:xfrm>
                <a:off x="838199" y="1471035"/>
                <a:ext cx="8696499" cy="4576295"/>
              </a:xfrm>
              <a:blipFill>
                <a:blip r:embed="rId3"/>
                <a:stretch>
                  <a:fillRect l="-491" t="-1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9479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Qualitätssicherung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E2054D-57CA-4D2C-B6D9-F12C51C7A4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99" y="1458745"/>
            <a:ext cx="8696499" cy="2143764"/>
          </a:xfrm>
        </p:spPr>
        <p:txBody>
          <a:bodyPr>
            <a:normAutofit/>
          </a:bodyPr>
          <a:lstStyle/>
          <a:p>
            <a:r>
              <a:rPr lang="de-DE"/>
              <a:t>Frontend-Tests mit </a:t>
            </a:r>
            <a:r>
              <a:rPr lang="de-DE" err="1"/>
              <a:t>Vitest</a:t>
            </a:r>
            <a:r>
              <a:rPr lang="de-DE"/>
              <a:t> &amp; Coveralls</a:t>
            </a:r>
          </a:p>
          <a:p>
            <a:pPr lvl="1">
              <a:buFont typeface="Wingdings" panose="020B0604020202020204" pitchFamily="34" charset="0"/>
              <a:buChar char="§"/>
            </a:pPr>
            <a:r>
              <a:rPr lang="de-DE"/>
              <a:t>Unit, </a:t>
            </a:r>
            <a:r>
              <a:rPr lang="de-DE" err="1"/>
              <a:t>Component</a:t>
            </a:r>
            <a:r>
              <a:rPr lang="de-DE"/>
              <a:t>, Integration, Smoke Tests</a:t>
            </a:r>
            <a:endParaRPr lang="de-DE">
              <a:ea typeface="Cambria"/>
            </a:endParaRPr>
          </a:p>
          <a:p>
            <a:r>
              <a:rPr lang="de-DE"/>
              <a:t>CI führt Lint (</a:t>
            </a:r>
            <a:r>
              <a:rPr lang="de-DE" err="1"/>
              <a:t>Complexity</a:t>
            </a:r>
            <a:r>
              <a:rPr lang="de-DE"/>
              <a:t>), Tests und Coverage aus</a:t>
            </a:r>
          </a:p>
          <a:p>
            <a:r>
              <a:rPr lang="de-DE" err="1"/>
              <a:t>SecurityHotspots</a:t>
            </a:r>
            <a:r>
              <a:rPr lang="de-DE"/>
              <a:t> (Sonarcube)</a:t>
            </a:r>
          </a:p>
          <a:p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8</a:t>
            </a:fld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C39B8FD-1B53-4FCE-9C3B-A8E9F75C0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604" y="3602509"/>
            <a:ext cx="3277057" cy="168616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32C1776D-F30E-451D-B679-C51F52BEF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98" y="3602509"/>
            <a:ext cx="5680789" cy="168616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855571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CI/CD-Pipeline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E2054D-57CA-4D2C-B6D9-F12C51C7A4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/>
              <a:t>GitHub-Actions: </a:t>
            </a:r>
          </a:p>
          <a:p>
            <a:pPr lvl="1"/>
            <a:r>
              <a:rPr lang="de-DE"/>
              <a:t>frontend-test &amp; backend-test</a:t>
            </a:r>
          </a:p>
          <a:p>
            <a:pPr lvl="1"/>
            <a:r>
              <a:rPr lang="de-DE" err="1"/>
              <a:t>build</a:t>
            </a:r>
            <a:endParaRPr lang="de-DE"/>
          </a:p>
          <a:p>
            <a:pPr lvl="1"/>
            <a:r>
              <a:rPr lang="de-DE"/>
              <a:t>test-deploy</a:t>
            </a:r>
          </a:p>
          <a:p>
            <a:pPr lvl="1"/>
            <a:r>
              <a:rPr lang="de-DE"/>
              <a:t>deploy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9</a:t>
            </a:fld>
            <a:endParaRPr lang="de-DE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DAF950EC-78D4-444D-A5A7-F1AD47F2B3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8" y="3657600"/>
            <a:ext cx="9078159" cy="165124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42914291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CI/CD-Pipeline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platzhalter 2">
                <a:extLst>
                  <a:ext uri="{FF2B5EF4-FFF2-40B4-BE49-F238E27FC236}">
                    <a16:creationId xmlns:a16="http://schemas.microsoft.com/office/drawing/2014/main" id="{05E2054D-57CA-4D2C-B6D9-F12C51C7A458}"/>
                  </a:ext>
                </a:extLst>
              </p:cNvPr>
              <p:cNvSpPr>
                <a:spLocks noGrp="1"/>
              </p:cNvSpPr>
              <p:nvPr>
                <p:ph type="body" sz="quarter" idx="15"/>
              </p:nvPr>
            </p:nvSpPr>
            <p:spPr/>
            <p:txBody>
              <a:bodyPr/>
              <a:lstStyle/>
              <a:p>
                <a:r>
                  <a:rPr lang="de-DE"/>
                  <a:t>Docker-Images (Frontend &amp; Backend)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e-DE"/>
                  <a:t> GHCR</a:t>
                </a:r>
              </a:p>
              <a:p>
                <a:r>
                  <a:rPr lang="de-DE"/>
                  <a:t>Test-Deploy </a:t>
                </a:r>
              </a:p>
              <a:p>
                <a:pPr lvl="1"/>
                <a:r>
                  <a:rPr lang="de-DE"/>
                  <a:t>eigene Container + Netzwerk</a:t>
                </a:r>
              </a:p>
              <a:p>
                <a:pPr lvl="1"/>
                <a:r>
                  <a:rPr lang="de-DE"/>
                  <a:t>Health-Check (Backend)</a:t>
                </a:r>
              </a:p>
              <a:p>
                <a:r>
                  <a:rPr lang="de-DE" err="1"/>
                  <a:t>RaspberryPi</a:t>
                </a:r>
                <a:endParaRPr lang="de-DE"/>
              </a:p>
              <a:p>
                <a:pPr lvl="1"/>
                <a:r>
                  <a:rPr lang="de-DE"/>
                  <a:t>Actions-Runner (</a:t>
                </a:r>
                <a:r>
                  <a:rPr lang="de-DE" err="1"/>
                  <a:t>build</a:t>
                </a:r>
                <a:r>
                  <a:rPr lang="de-DE"/>
                  <a:t>)</a:t>
                </a:r>
              </a:p>
              <a:p>
                <a:pPr lvl="1"/>
                <a:r>
                  <a:rPr lang="de-DE"/>
                  <a:t>Docker-Compose</a:t>
                </a:r>
              </a:p>
              <a:p>
                <a:pPr lvl="1"/>
                <a:r>
                  <a:rPr lang="de-DE" err="1"/>
                  <a:t>nginx</a:t>
                </a:r>
                <a:endParaRPr lang="de-DE"/>
              </a:p>
              <a:p>
                <a:pPr lvl="1"/>
                <a:r>
                  <a:rPr lang="de-DE" err="1"/>
                  <a:t>Let‘s</a:t>
                </a:r>
                <a:r>
                  <a:rPr lang="de-DE"/>
                  <a:t> </a:t>
                </a:r>
                <a:r>
                  <a:rPr lang="de-DE" err="1"/>
                  <a:t>Encrypt</a:t>
                </a:r>
                <a:endParaRPr lang="de-DE"/>
              </a:p>
              <a:p>
                <a:endParaRPr lang="de-DE"/>
              </a:p>
            </p:txBody>
          </p:sp>
        </mc:Choice>
        <mc:Fallback xmlns="">
          <p:sp>
            <p:nvSpPr>
              <p:cNvPr id="3" name="Textplatzhalter 2">
                <a:extLst>
                  <a:ext uri="{FF2B5EF4-FFF2-40B4-BE49-F238E27FC236}">
                    <a16:creationId xmlns:a16="http://schemas.microsoft.com/office/drawing/2014/main" id="{05E2054D-57CA-4D2C-B6D9-F12C51C7A4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5"/>
              </p:nvPr>
            </p:nvSpPr>
            <p:spPr>
              <a:blipFill>
                <a:blip r:embed="rId3"/>
                <a:stretch>
                  <a:fillRect l="-491" t="-1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31324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Live Demonstration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E2054D-57CA-4D2C-B6D9-F12C51C7A4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11</a:t>
            </a:fld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F44B9F4-DD9F-EF36-99BC-AA8D8034D5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08952" y="2272826"/>
            <a:ext cx="2958126" cy="2946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2422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Anmeldeseite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12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37F3D0D-76DE-4C94-9AC4-2EE317B278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2169155"/>
            <a:ext cx="4191000" cy="298132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8A787837-14D4-4F45-A94C-0E93BDD70F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5900" y="1731004"/>
            <a:ext cx="4191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72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DarkMode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13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096BCCA-6641-4110-AC44-33F551C7E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898" y="1382963"/>
            <a:ext cx="9692726" cy="4862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5567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Custom Gatter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14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B8BDE8DC-EE3B-4B00-A2B3-0E5BD1C86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899" y="1458745"/>
            <a:ext cx="7381702" cy="477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8583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Custom Gatter importieren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15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B8EF17DD-08D1-40ED-85AA-5790614BF7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898" y="1458745"/>
            <a:ext cx="7545519" cy="4471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2387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Custom Gatter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16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734C9EC-BB40-4A66-8756-3478E2D92F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898" y="2134244"/>
            <a:ext cx="8448833" cy="3263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9118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Generische Gatter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17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BA1B6E3-2B24-4DAC-94A2-AC7114ECE5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898" y="1458745"/>
            <a:ext cx="6066529" cy="468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683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Generische Gatter - Simulation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18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3218106-815B-40D5-9C97-6CB5B9FCEC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898" y="1458745"/>
            <a:ext cx="8971545" cy="3229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1221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Mehrbenutzer-Modus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19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0868648A-2030-4B1B-A477-F6FA72AD41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897" y="1452087"/>
            <a:ext cx="9335529" cy="4600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8818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Projektmanagement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E2054D-57CA-4D2C-B6D9-F12C51C7A4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/>
              <a:t>Vorgehen: SCRUM; </a:t>
            </a:r>
            <a:r>
              <a:rPr lang="de-DE" err="1"/>
              <a:t>YouTrack</a:t>
            </a:r>
            <a:r>
              <a:rPr lang="de-DE"/>
              <a:t> </a:t>
            </a:r>
          </a:p>
          <a:p>
            <a:pPr>
              <a:buClr>
                <a:srgbClr val="FFFFFF"/>
              </a:buClr>
            </a:pPr>
            <a:r>
              <a:rPr lang="de-DE">
                <a:ea typeface="Cambria"/>
              </a:rPr>
              <a:t>2 Wochen Sprintlänge</a:t>
            </a:r>
            <a:endParaRPr lang="de-DE"/>
          </a:p>
          <a:p>
            <a:pPr>
              <a:buClr>
                <a:srgbClr val="FFFFFF"/>
              </a:buClr>
            </a:pPr>
            <a:r>
              <a:rPr lang="de-DE">
                <a:ea typeface="Cambria"/>
              </a:rPr>
              <a:t>1-mal in der Woche "Daily"-SCRUM (meist Freitag online)</a:t>
            </a:r>
            <a:endParaRPr lang="de-DE"/>
          </a:p>
          <a:p>
            <a:pPr>
              <a:buClr>
                <a:srgbClr val="FFFFFF"/>
              </a:buClr>
            </a:pPr>
            <a:endParaRPr lang="de-DE"/>
          </a:p>
          <a:p>
            <a:r>
              <a:rPr lang="de-DE"/>
              <a:t>Repo: GitHub; Feedback über GitHub-</a:t>
            </a:r>
            <a:r>
              <a:rPr lang="de-DE" err="1"/>
              <a:t>Discussions</a:t>
            </a:r>
            <a:endParaRPr lang="de-DE" err="1">
              <a:ea typeface="Cambria"/>
            </a:endParaRPr>
          </a:p>
          <a:p>
            <a:r>
              <a:rPr lang="de-DE">
                <a:ea typeface="Cambria"/>
              </a:rPr>
              <a:t>Besprechung der Feedbacks im Daily-SCRUM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51297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E4079B-2D8C-D274-D3CD-4ADF27205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898" y="612444"/>
            <a:ext cx="10341963" cy="846301"/>
          </a:xfrm>
        </p:spPr>
        <p:txBody>
          <a:bodyPr/>
          <a:lstStyle/>
          <a:p>
            <a:r>
              <a:rPr lang="de-DE" err="1">
                <a:ea typeface="Cambria"/>
              </a:rPr>
              <a:t>Burndown</a:t>
            </a:r>
            <a:r>
              <a:rPr lang="de-DE">
                <a:ea typeface="Cambria"/>
              </a:rPr>
              <a:t> </a:t>
            </a:r>
            <a:r>
              <a:rPr lang="de-DE" err="1">
                <a:ea typeface="Cambria"/>
              </a:rPr>
              <a:t>chart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A931062-3822-80D9-749F-404EDACF686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BDAA7B9-37BB-EA17-A812-BF3AA1DEA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51DA32-661B-1DA3-1E4F-88EC26C0A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A0C312E-CC9E-94FF-48A0-6203C817E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21</a:t>
            </a:fld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DCFE699-2667-7F9A-980E-3C8060EBB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03236"/>
            <a:ext cx="12192000" cy="4251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5708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FBD6B-0BD4-4735-4428-73C233401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BD6D4F-E7C7-0AB3-E27C-F8A605B33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Projektmanagement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BB30890-A58A-6AD5-C679-D8985D5882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99" y="1458745"/>
            <a:ext cx="8925918" cy="4576295"/>
          </a:xfrm>
        </p:spPr>
        <p:txBody>
          <a:bodyPr/>
          <a:lstStyle/>
          <a:p>
            <a:r>
              <a:rPr lang="de-DE">
                <a:ea typeface="Cambria"/>
              </a:rPr>
              <a:t>Hauptaufgaben:</a:t>
            </a:r>
          </a:p>
          <a:p>
            <a:pPr lvl="1">
              <a:buClr>
                <a:srgbClr val="FFFFFF"/>
              </a:buClr>
              <a:buFont typeface="Wingdings" panose="020B0604020202020204" pitchFamily="34" charset="0"/>
              <a:buChar char="§"/>
            </a:pPr>
            <a:r>
              <a:rPr lang="de-DE">
                <a:ea typeface="Cambria"/>
              </a:rPr>
              <a:t>Florian Blum: Wochenaufgaben, Gatter- &amp; Editordarstellung </a:t>
            </a:r>
          </a:p>
          <a:p>
            <a:pPr lvl="1">
              <a:buClr>
                <a:srgbClr val="FFFFFF"/>
              </a:buClr>
              <a:buFont typeface="Wingdings" panose="020B0604020202020204" pitchFamily="34" charset="0"/>
              <a:buChar char="§"/>
            </a:pPr>
            <a:r>
              <a:rPr lang="de-DE">
                <a:ea typeface="Cambria"/>
              </a:rPr>
              <a:t>Moritz Czekalski: Backend, CI/CD-Pipeline, Benutzerverwaltung, Kabel-ziehen</a:t>
            </a:r>
          </a:p>
          <a:p>
            <a:pPr lvl="1">
              <a:buClr>
                <a:srgbClr val="FFFFFF"/>
              </a:buClr>
              <a:buFont typeface="Wingdings" panose="020B0604020202020204" pitchFamily="34" charset="0"/>
              <a:buChar char="§"/>
            </a:pPr>
            <a:r>
              <a:rPr lang="de-DE">
                <a:ea typeface="Cambria"/>
              </a:rPr>
              <a:t>Simon Just: SCRUM-Master, Custom Gates, Generic Gates</a:t>
            </a:r>
          </a:p>
          <a:p>
            <a:pPr lvl="1">
              <a:buClr>
                <a:srgbClr val="FFFFFF"/>
              </a:buClr>
              <a:buFont typeface="Wingdings" panose="020B0604020202020204" pitchFamily="34" charset="0"/>
              <a:buChar char="§"/>
            </a:pPr>
            <a:r>
              <a:rPr lang="de-DE">
                <a:ea typeface="Cambria"/>
              </a:rPr>
              <a:t>Mohid Syed: Gatter-Logik, Frontend-Design, Mehrbenutzer-Modus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55742B-9873-D761-EB71-6254B91DB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ED73B2B-E5B9-503F-FC74-F48AA3EBB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7CB271-8244-37DD-F36C-1AC9CF7B9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50938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97CC3F-7143-D1E7-63CA-32843C355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>
                <a:ea typeface="Cambria"/>
              </a:rPr>
              <a:t>Zeiten pro person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7889CC4-87FA-A63E-FDBD-AA3C34B5094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DB5921D-BFD8-01B0-F61F-3A27E25EB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F36922-7125-52BF-6E83-96BE27322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E72DF6-42A5-2E98-756D-7722AACF0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23</a:t>
            </a:fld>
            <a:endParaRPr lang="de-DE"/>
          </a:p>
        </p:txBody>
      </p:sp>
      <p:pic>
        <p:nvPicPr>
          <p:cNvPr id="8" name="Grafik 7" descr="Ein Bild, das Text, Screenshot, Schrift, Software enthält.&#10;&#10;KI-generierte Inhalte können fehlerhaft sein.">
            <a:extLst>
              <a:ext uri="{FF2B5EF4-FFF2-40B4-BE49-F238E27FC236}">
                <a16:creationId xmlns:a16="http://schemas.microsoft.com/office/drawing/2014/main" id="{62787995-549B-2D96-6273-2F64F56CBA8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336" r="180" b="240"/>
          <a:stretch>
            <a:fillRect/>
          </a:stretch>
        </p:blipFill>
        <p:spPr>
          <a:xfrm>
            <a:off x="2674815" y="1825381"/>
            <a:ext cx="5406307" cy="3628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5593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AF0AF-360D-4F17-8C0D-C13A78A59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/>
              <a:t>Learnings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E2054D-57CA-4D2C-B6D9-F12C51C7A4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/>
              <a:t>Klare Modultrennung (UI </a:t>
            </a:r>
            <a:r>
              <a:rPr lang="de-DE" err="1"/>
              <a:t>vs</a:t>
            </a:r>
            <a:r>
              <a:rPr lang="de-DE"/>
              <a:t> Simulation) erhöht Wartbarkeit</a:t>
            </a:r>
          </a:p>
          <a:p>
            <a:r>
              <a:rPr lang="de-DE"/>
              <a:t>Frühzeitige Tests &amp; CI vereinfacht Qualitätssicherung</a:t>
            </a:r>
          </a:p>
          <a:p>
            <a:pPr>
              <a:buClr>
                <a:srgbClr val="FFFFFF"/>
              </a:buClr>
            </a:pPr>
            <a:r>
              <a:rPr lang="de-DE">
                <a:ea typeface="Cambria"/>
              </a:rPr>
              <a:t>Gute Absprache hilft enorm</a:t>
            </a:r>
          </a:p>
          <a:p>
            <a:pPr>
              <a:buClr>
                <a:srgbClr val="FFFFFF"/>
              </a:buClr>
            </a:pPr>
            <a:endParaRPr lang="de-DE">
              <a:ea typeface="Cambria"/>
            </a:endParaRPr>
          </a:p>
          <a:p>
            <a:endParaRPr lang="de-DE">
              <a:ea typeface="Cambria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D50C65F-126C-4334-BDCC-BD3F29990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4598D1-34BB-49E6-947C-649D35834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048FAF-73B5-4068-9EBF-48FCA1FFE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72857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93219B-750C-AFE0-A014-2EAA55EAE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>
                <a:ea typeface="Cambria"/>
              </a:rPr>
              <a:t>Ausblick 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8C2C78-A9EE-2757-6F5C-8CA922D4E9D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>
                <a:ea typeface="Cambria"/>
              </a:rPr>
              <a:t>Was wir nicht geschafft haben:</a:t>
            </a:r>
          </a:p>
          <a:p>
            <a:pPr lvl="1">
              <a:buClr>
                <a:srgbClr val="FFFFFF"/>
              </a:buClr>
              <a:buFont typeface="Courier New" panose="020B0604020202020204" pitchFamily="34" charset="0"/>
              <a:buChar char="o"/>
            </a:pPr>
            <a:r>
              <a:rPr lang="de-DE">
                <a:ea typeface="+mn-lt"/>
                <a:cs typeface="+mn-lt"/>
              </a:rPr>
              <a:t>Projekte können lokal (z. B. als JSON-Datei) exportiert und importiert werden.</a:t>
            </a:r>
            <a:endParaRPr lang="de-DE">
              <a:ea typeface="Cambria"/>
            </a:endParaRPr>
          </a:p>
          <a:p>
            <a:pPr>
              <a:buClr>
                <a:srgbClr val="FFFFFF"/>
              </a:buClr>
            </a:pPr>
            <a:endParaRPr lang="de-DE">
              <a:ea typeface="Cambria"/>
            </a:endParaRPr>
          </a:p>
          <a:p>
            <a:pPr>
              <a:buClr>
                <a:srgbClr val="FFFFFF"/>
              </a:buClr>
            </a:pPr>
            <a:r>
              <a:rPr lang="de-DE">
                <a:ea typeface="Cambria"/>
              </a:rPr>
              <a:t>Was man noch erweitern könnte:</a:t>
            </a:r>
          </a:p>
          <a:p>
            <a:pPr lvl="1">
              <a:buClr>
                <a:srgbClr val="FFFFFF"/>
              </a:buClr>
              <a:buFont typeface="Courier New" panose="020B0604020202020204" pitchFamily="34" charset="0"/>
              <a:buChar char="o"/>
            </a:pPr>
            <a:r>
              <a:rPr lang="de-DE">
                <a:ea typeface="Cambria"/>
              </a:rPr>
              <a:t>Richtiges Mailsystem</a:t>
            </a:r>
          </a:p>
          <a:p>
            <a:pPr lvl="1">
              <a:buClr>
                <a:srgbClr val="FFFFFF"/>
              </a:buClr>
              <a:buFont typeface="Courier New" panose="020B0604020202020204" pitchFamily="34" charset="0"/>
              <a:buChar char="o"/>
            </a:pPr>
            <a:r>
              <a:rPr lang="de-DE">
                <a:ea typeface="Cambria"/>
              </a:rPr>
              <a:t>Automatische Clock</a:t>
            </a:r>
          </a:p>
          <a:p>
            <a:pPr lvl="1">
              <a:buClr>
                <a:srgbClr val="FFFFFF"/>
              </a:buClr>
              <a:buFont typeface="Courier New" panose="020B0604020202020204" pitchFamily="34" charset="0"/>
              <a:buChar char="o"/>
            </a:pPr>
            <a:r>
              <a:rPr lang="de-DE">
                <a:ea typeface="Cambria"/>
              </a:rPr>
              <a:t>Performance-Tests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47C6A4-99AE-8D4A-01EA-F80B154D9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C2BE3-76C9-4662-9010-556118ECBB0B}" type="datetime1">
              <a:rPr lang="de-DE" smtClean="0"/>
              <a:pPr/>
              <a:t>03.06.2026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3DE308-7CCD-EC22-EC80-5B807C02B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BitFlow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0A6005E-074D-03ED-8C8B-9854DEECD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de-DE" smtClean="0"/>
              <a:pPr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59147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r>
              <a:rPr lang="de-DE"/>
              <a:t>VIELEN DANK!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4AFFC60-19C3-4901-93F7-7AAF4C09F8C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/>
          </a:bodyPr>
          <a:lstStyle/>
          <a:p>
            <a:r>
              <a:rPr lang="de-DE">
                <a:solidFill>
                  <a:schemeClr val="tx1"/>
                </a:solidFill>
              </a:rPr>
              <a:t>Team </a:t>
            </a:r>
            <a:r>
              <a:rPr lang="de-DE" err="1">
                <a:solidFill>
                  <a:schemeClr val="tx1"/>
                </a:solidFill>
              </a:rPr>
              <a:t>BitFlow</a:t>
            </a:r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</p:sld>
</file>

<file path=ppt/theme/theme1.xml><?xml version="1.0" encoding="utf-8"?>
<a:theme xmlns:a="http://schemas.openxmlformats.org/drawingml/2006/main" name="Segment">
  <a:themeElements>
    <a:clrScheme name="Warmes Blau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ambria">
      <a:maj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Segment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4CF2EF3-001F-4BE9-81B3-86ECBBF9425F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7F97B18F-50BC-4F30-8373-93489E845F83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www.w3.org/2000/xmlns/"/>
    <ds:schemaRef ds:uri="http://www.w3.org/2001/XMLSchema-instance"/>
  </ds:schemaRefs>
</ds:datastoreItem>
</file>

<file path=customXml/itemProps3.xml><?xml version="1.0" encoding="utf-8"?>
<ds:datastoreItem xmlns:ds="http://schemas.openxmlformats.org/officeDocument/2006/customXml" ds:itemID="{42BC90D6-94CF-42F7-AAC4-9CF6824C54D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TM02900771[[fn=Segment]]</Template>
  <TotalTime>0</TotalTime>
  <Words>480</Words>
  <Application>Microsoft Office PowerPoint</Application>
  <PresentationFormat>Breitbild</PresentationFormat>
  <Paragraphs>229</Paragraphs>
  <Slides>26</Slides>
  <Notes>26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4" baseType="lpstr">
      <vt:lpstr>Arial</vt:lpstr>
      <vt:lpstr>Calibri</vt:lpstr>
      <vt:lpstr>Cambria</vt:lpstr>
      <vt:lpstr>Cambria Math</vt:lpstr>
      <vt:lpstr>Courier New</vt:lpstr>
      <vt:lpstr>Wingdings</vt:lpstr>
      <vt:lpstr>Wingdings 3</vt:lpstr>
      <vt:lpstr>Segment</vt:lpstr>
      <vt:lpstr>BitFlow</vt:lpstr>
      <vt:lpstr>Gliederung</vt:lpstr>
      <vt:lpstr>Projektvision</vt:lpstr>
      <vt:lpstr>Projektvision</vt:lpstr>
      <vt:lpstr>Architekturentscheidungen</vt:lpstr>
      <vt:lpstr>Design-Patterns</vt:lpstr>
      <vt:lpstr>Tech-Stack</vt:lpstr>
      <vt:lpstr>Qualitätssicherung</vt:lpstr>
      <vt:lpstr>CI/CD-Pipeline</vt:lpstr>
      <vt:lpstr>CI/CD-Pipeline</vt:lpstr>
      <vt:lpstr>Live Demonstration</vt:lpstr>
      <vt:lpstr>Anmeldeseite</vt:lpstr>
      <vt:lpstr>DarkMode</vt:lpstr>
      <vt:lpstr>Custom Gatter</vt:lpstr>
      <vt:lpstr>Custom Gatter importieren</vt:lpstr>
      <vt:lpstr>Custom Gatter</vt:lpstr>
      <vt:lpstr>Generische Gatter</vt:lpstr>
      <vt:lpstr>Generische Gatter - Simulation</vt:lpstr>
      <vt:lpstr>Mehrbenutzer-Modus</vt:lpstr>
      <vt:lpstr>Projektmanagement</vt:lpstr>
      <vt:lpstr>Burndown chart</vt:lpstr>
      <vt:lpstr>Projektmanagement</vt:lpstr>
      <vt:lpstr>Zeiten pro person</vt:lpstr>
      <vt:lpstr>Learnings</vt:lpstr>
      <vt:lpstr>Ausblick </vt:lpstr>
      <vt:lpstr>VIELEN DANK!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BitFlow</dc:title>
  <dc:creator>Moritz C.</dc:creator>
  <cp:lastModifiedBy>Moritz C.</cp:lastModifiedBy>
  <cp:revision>3</cp:revision>
  <dcterms:created xsi:type="dcterms:W3CDTF">2026-05-31T19:53:34Z</dcterms:created>
  <dcterms:modified xsi:type="dcterms:W3CDTF">2026-06-03T10:12:50Z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