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2" r:id="rId4"/>
  </p:sldMasterIdLst>
  <p:notesMasterIdLst>
    <p:notesMasterId r:id="rId31"/>
  </p:notesMasterIdLst>
  <p:handoutMasterIdLst>
    <p:handoutMasterId r:id="rId32"/>
  </p:handoutMasterIdLst>
  <p:sldIdLst>
    <p:sldId id="256" r:id="rId5"/>
    <p:sldId id="277" r:id="rId6"/>
    <p:sldId id="295" r:id="rId7"/>
    <p:sldId id="305" r:id="rId8"/>
    <p:sldId id="312" r:id="rId9"/>
    <p:sldId id="297" r:id="rId10"/>
    <p:sldId id="298" r:id="rId11"/>
    <p:sldId id="299" r:id="rId12"/>
    <p:sldId id="300" r:id="rId13"/>
    <p:sldId id="304" r:id="rId14"/>
    <p:sldId id="321" r:id="rId15"/>
    <p:sldId id="301" r:id="rId16"/>
    <p:sldId id="317" r:id="rId17"/>
    <p:sldId id="320" r:id="rId18"/>
    <p:sldId id="318" r:id="rId19"/>
    <p:sldId id="319" r:id="rId20"/>
    <p:sldId id="315" r:id="rId21"/>
    <p:sldId id="316" r:id="rId22"/>
    <p:sldId id="314" r:id="rId23"/>
    <p:sldId id="302" r:id="rId24"/>
    <p:sldId id="307" r:id="rId25"/>
    <p:sldId id="306" r:id="rId26"/>
    <p:sldId id="308" r:id="rId27"/>
    <p:sldId id="303" r:id="rId28"/>
    <p:sldId id="309" r:id="rId29"/>
    <p:sldId id="27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281E5-2804-A349-9110-A6017AFCAE0F}" v="2" dt="2026-06-02T10:38:04.498"/>
    <p1510:client id="{18817297-3123-E962-0D50-1BB07540478E}" v="108" dt="2026-06-02T14:22:49.728"/>
    <p1510:client id="{2A653CB5-0597-4876-505E-072357B9264C}" v="272" dt="2026-06-01T20:16:19.544"/>
    <p1510:client id="{2A705EDA-9157-A1E7-D3A6-06EB5379A303}" v="45" dt="2026-06-02T14:14:47.237"/>
    <p1510:client id="{2C2814E4-A0DB-BB51-4783-AE6004692B5F}" v="67" dt="2026-06-02T12:59:43.033"/>
    <p1510:client id="{2DD1B7F6-00B7-C618-D5C1-ED101C5806B7}" v="2" dt="2026-06-02T14:05:39.560"/>
    <p1510:client id="{30074C4A-C544-FE73-78BC-015A541081F2}" v="71" dt="2026-06-02T14:18:57.452"/>
    <p1510:client id="{54E21988-B738-18DF-6789-9522AD3BADFB}" v="23" dt="2026-06-01T19:53:52.389"/>
    <p1510:client id="{66E7E41D-D012-7481-7AB6-CE3A1AB74DE8}" v="6" dt="2026-06-02T14:18:56.683"/>
    <p1510:client id="{836E2A5C-359F-3846-B19B-16394E633B48}" v="11" dt="2026-06-02T14:02:31.934"/>
    <p1510:client id="{8B0C8862-04CD-DF6D-DAE5-DAC0D80B2DD6}" v="2" dt="2026-06-02T10:32:59.460"/>
    <p1510:client id="{B7B6244A-ECD5-4DE0-ED87-CDC1C30857EA}" v="4" dt="2026-06-02T10:45:15.414"/>
    <p1510:client id="{BDD642B2-2797-FBCE-1F70-2E2363B343BC}" v="70" dt="2026-06-02T13:57:26.873"/>
    <p1510:client id="{CD681296-AE77-D5DD-1997-8873B5975865}" v="1" dt="2026-06-02T14:04:24.954"/>
    <p1510:client id="{DB7A643C-02F6-A496-3008-D44980E0897D}" v="22" dt="2026-06-01T16:07:14.570"/>
    <p1510:client id="{F27A7F8F-03AA-12DF-B7A4-9C9231C52885}" v="89" dt="2026-06-02T10:32:49.1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5A4BAD4-14F2-4D4A-BAC1-A644C6A8B8B8}" type="datetime1">
              <a:rPr lang="de-DE" smtClean="0"/>
              <a:t>02.06.2026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F6048-6F8A-4683-A7AB-9FF3D1DE1A65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Mohid </a:t>
            </a:r>
            <a:endParaRPr lang="de-DE"/>
          </a:p>
          <a:p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8140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Mohid </a:t>
            </a:r>
            <a:endParaRPr lang="de-DE"/>
          </a:p>
          <a:p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179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Mohid 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3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539321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Mohid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4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899354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Florian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5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570564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Florian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6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581517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Florian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7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069373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Moritz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8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96174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Moritz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9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838525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Moritz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10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988599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Simon: Custom-Gatter (+Importieren), Generische-Gatter </a:t>
            </a:r>
          </a:p>
          <a:p>
            <a:r>
              <a:rPr lang="de-DE"/>
              <a:t>Mohid: Mehrbenutzer-Modus </a:t>
            </a:r>
          </a:p>
          <a:p>
            <a:r>
              <a:rPr lang="de-DE"/>
              <a:t>Moritz: Anmeldung, allgemein UI (außerhalb und in einem Projekt) </a:t>
            </a:r>
          </a:p>
          <a:p>
            <a:r>
              <a:rPr lang="de-DE"/>
              <a:t>Florian: </a:t>
            </a:r>
            <a:r>
              <a:rPr lang="de-DE" err="1"/>
              <a:t>Volladdierer</a:t>
            </a:r>
            <a:r>
              <a:rPr lang="de-DE"/>
              <a:t> bauen, (aus Custom-</a:t>
            </a:r>
            <a:r>
              <a:rPr lang="de-DE" err="1"/>
              <a:t>Halbaddierern</a:t>
            </a:r>
            <a:r>
              <a:rPr lang="de-DE"/>
              <a:t>) (oder irgendwas anderes)</a:t>
            </a:r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12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366037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Simon: Custom-Gatter (+Importieren), Generische-Gatter </a:t>
            </a:r>
          </a:p>
          <a:p>
            <a:r>
              <a:rPr lang="de-DE"/>
              <a:t>Mohid: Mehrbenutzer-Modus </a:t>
            </a:r>
          </a:p>
          <a:p>
            <a:r>
              <a:rPr lang="de-DE"/>
              <a:t>Moritz: Anmeldung, allgemein UI (außerhalb und in einem Projekt) </a:t>
            </a:r>
          </a:p>
          <a:p>
            <a:r>
              <a:rPr lang="de-DE"/>
              <a:t>Florian: </a:t>
            </a:r>
            <a:r>
              <a:rPr lang="de-DE" err="1"/>
              <a:t>Volladdierer</a:t>
            </a:r>
            <a:r>
              <a:rPr lang="de-DE"/>
              <a:t> bauen, (aus Custom-</a:t>
            </a:r>
            <a:r>
              <a:rPr lang="de-DE" err="1"/>
              <a:t>Halbaddierern</a:t>
            </a:r>
            <a:r>
              <a:rPr lang="de-DE"/>
              <a:t>) (oder irgendwas anderes)</a:t>
            </a:r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13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83810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Simon: Custom-Gatter (+Importieren), Generische-Gatter </a:t>
            </a:r>
          </a:p>
          <a:p>
            <a:r>
              <a:rPr lang="de-DE"/>
              <a:t>Mohid: Mehrbenutzer-Modus </a:t>
            </a:r>
          </a:p>
          <a:p>
            <a:r>
              <a:rPr lang="de-DE"/>
              <a:t>Moritz: Anmeldung, allgemein UI (außerhalb und in einem Projekt) </a:t>
            </a:r>
          </a:p>
          <a:p>
            <a:r>
              <a:rPr lang="de-DE"/>
              <a:t>Florian: </a:t>
            </a:r>
            <a:r>
              <a:rPr lang="de-DE" err="1"/>
              <a:t>Volladdierer</a:t>
            </a:r>
            <a:r>
              <a:rPr lang="de-DE"/>
              <a:t> bauen, (aus Custom-</a:t>
            </a:r>
            <a:r>
              <a:rPr lang="de-DE" err="1"/>
              <a:t>Halbaddierern</a:t>
            </a:r>
            <a:r>
              <a:rPr lang="de-DE"/>
              <a:t>) (oder irgendwas anderes)</a:t>
            </a:r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14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035993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Simon: Custom-Gatter (+Importieren), Generische-Gatter </a:t>
            </a:r>
          </a:p>
          <a:p>
            <a:r>
              <a:rPr lang="de-DE"/>
              <a:t>Mohid: Mehrbenutzer-Modus </a:t>
            </a:r>
          </a:p>
          <a:p>
            <a:r>
              <a:rPr lang="de-DE"/>
              <a:t>Moritz: Anmeldung, allgemein UI (außerhalb und in einem Projekt) </a:t>
            </a:r>
          </a:p>
          <a:p>
            <a:r>
              <a:rPr lang="de-DE"/>
              <a:t>Florian: </a:t>
            </a:r>
            <a:r>
              <a:rPr lang="de-DE" err="1"/>
              <a:t>Volladdierer</a:t>
            </a:r>
            <a:r>
              <a:rPr lang="de-DE"/>
              <a:t> bauen, (aus Custom-</a:t>
            </a:r>
            <a:r>
              <a:rPr lang="de-DE" err="1"/>
              <a:t>Halbaddierern</a:t>
            </a:r>
            <a:r>
              <a:rPr lang="de-DE"/>
              <a:t>) (oder irgendwas anderes)</a:t>
            </a:r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15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67973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Simon: Custom-Gatter (+Importieren), Generische-Gatter </a:t>
            </a:r>
          </a:p>
          <a:p>
            <a:r>
              <a:rPr lang="de-DE"/>
              <a:t>Mohid: Mehrbenutzer-Modus </a:t>
            </a:r>
          </a:p>
          <a:p>
            <a:r>
              <a:rPr lang="de-DE"/>
              <a:t>Moritz: Anmeldung, allgemein UI (außerhalb und in einem Projekt) </a:t>
            </a:r>
          </a:p>
          <a:p>
            <a:r>
              <a:rPr lang="de-DE"/>
              <a:t>Florian: </a:t>
            </a:r>
            <a:r>
              <a:rPr lang="de-DE" err="1"/>
              <a:t>Volladdierer</a:t>
            </a:r>
            <a:r>
              <a:rPr lang="de-DE"/>
              <a:t> bauen, (aus Custom-</a:t>
            </a:r>
            <a:r>
              <a:rPr lang="de-DE" err="1"/>
              <a:t>Halbaddierern</a:t>
            </a:r>
            <a:r>
              <a:rPr lang="de-DE"/>
              <a:t>) (oder irgendwas anderes)</a:t>
            </a:r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16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501178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Simon: Custom-Gatter (+Importieren), Generische-Gatter </a:t>
            </a:r>
          </a:p>
          <a:p>
            <a:r>
              <a:rPr lang="de-DE"/>
              <a:t>Mohid: Mehrbenutzer-Modus </a:t>
            </a:r>
          </a:p>
          <a:p>
            <a:r>
              <a:rPr lang="de-DE"/>
              <a:t>Moritz: Anmeldung, allgemein UI (außerhalb und in einem Projekt) </a:t>
            </a:r>
          </a:p>
          <a:p>
            <a:r>
              <a:rPr lang="de-DE"/>
              <a:t>Florian: </a:t>
            </a:r>
            <a:r>
              <a:rPr lang="de-DE" err="1"/>
              <a:t>Volladdierer</a:t>
            </a:r>
            <a:r>
              <a:rPr lang="de-DE"/>
              <a:t> bauen, (aus Custom-</a:t>
            </a:r>
            <a:r>
              <a:rPr lang="de-DE" err="1"/>
              <a:t>Halbaddierern</a:t>
            </a:r>
            <a:r>
              <a:rPr lang="de-DE"/>
              <a:t>) (oder irgendwas anderes)</a:t>
            </a:r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17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130770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Simon: Custom-Gatter (+Importieren), Generische-Gatter </a:t>
            </a:r>
          </a:p>
          <a:p>
            <a:r>
              <a:rPr lang="de-DE"/>
              <a:t>Mohid: Mehrbenutzer-Modus </a:t>
            </a:r>
          </a:p>
          <a:p>
            <a:r>
              <a:rPr lang="de-DE"/>
              <a:t>Moritz: Anmeldung, allgemein UI (außerhalb und in einem Projekt) </a:t>
            </a:r>
          </a:p>
          <a:p>
            <a:r>
              <a:rPr lang="de-DE"/>
              <a:t>Florian: </a:t>
            </a:r>
            <a:r>
              <a:rPr lang="de-DE" err="1"/>
              <a:t>Volladdierer</a:t>
            </a:r>
            <a:r>
              <a:rPr lang="de-DE"/>
              <a:t> bauen, (aus Custom-</a:t>
            </a:r>
            <a:r>
              <a:rPr lang="de-DE" err="1"/>
              <a:t>Halbaddierern</a:t>
            </a:r>
            <a:r>
              <a:rPr lang="de-DE"/>
              <a:t>) (oder irgendwas anderes)</a:t>
            </a:r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18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5517668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Simon: Custom-Gatter (+Importieren), Generische-Gatter </a:t>
            </a:r>
          </a:p>
          <a:p>
            <a:r>
              <a:rPr lang="de-DE"/>
              <a:t>Mohid: Mehrbenutzer-Modus </a:t>
            </a:r>
          </a:p>
          <a:p>
            <a:r>
              <a:rPr lang="de-DE"/>
              <a:t>Moritz: Anmeldung, allgemein UI (außerhalb und in einem Projekt) </a:t>
            </a:r>
          </a:p>
          <a:p>
            <a:r>
              <a:rPr lang="de-DE"/>
              <a:t>Florian: </a:t>
            </a:r>
            <a:r>
              <a:rPr lang="de-DE" err="1"/>
              <a:t>Volladdierer</a:t>
            </a:r>
            <a:r>
              <a:rPr lang="de-DE"/>
              <a:t> bauen, (aus Custom-</a:t>
            </a:r>
            <a:r>
              <a:rPr lang="de-DE" err="1"/>
              <a:t>Halbaddierern</a:t>
            </a:r>
            <a:r>
              <a:rPr lang="de-DE"/>
              <a:t>) (oder irgendwas anderes)</a:t>
            </a:r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19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2081008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>
                <a:ea typeface="Calibri"/>
                <a:cs typeface="Calibri"/>
              </a:rPr>
              <a:t>Simon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20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2485766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Simon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21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21190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97B2-BAB4-F2D4-FEF7-5FD435AA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5E97044-393D-06BE-411E-34E576917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7D400F2-1BCC-D74B-7D5D-3EF011E2C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>
                <a:ea typeface="Calibri"/>
                <a:cs typeface="Calibri"/>
              </a:rPr>
              <a:t>Simon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7B6CD1-AB48-1D5E-7A22-3BC2D486F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22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6608971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Simon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23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709370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>
                <a:ea typeface="Calibri"/>
                <a:cs typeface="Calibri"/>
              </a:rPr>
              <a:t>Simon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24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603976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Simon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noProof="0" smtClean="0"/>
              <a:t>25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8388462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de-DE">
                <a:ea typeface="Calibri"/>
                <a:cs typeface="Calibri"/>
              </a:rPr>
              <a:t>Alle zusammen, Hand in Hand ;)</a:t>
            </a:r>
            <a:endParaRPr lang="de-DE"/>
          </a:p>
          <a:p>
            <a:r>
              <a:rPr lang="de-DE"/>
              <a:t>🤝🏼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9FCBC-F132-4AAE-AF84-F52F3E0CA57D}" type="datetime1">
              <a:rPr lang="de-DE" smtClean="0"/>
              <a:t>02.06.2026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BitFlow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695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En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>
            <a:extLst>
              <a:ext uri="{FF2B5EF4-FFF2-40B4-BE49-F238E27FC236}">
                <a16:creationId xmlns:a16="http://schemas.microsoft.com/office/drawing/2014/main" id="{A3658C96-6392-478C-AF37-00CF0F8D2F4D}"/>
              </a:ext>
            </a:extLst>
          </p:cNvPr>
          <p:cNvSpPr/>
          <p:nvPr userDrawn="1"/>
        </p:nvSpPr>
        <p:spPr>
          <a:xfrm>
            <a:off x="7085013" y="320675"/>
            <a:ext cx="4779244" cy="6235700"/>
          </a:xfrm>
          <a:custGeom>
            <a:avLst/>
            <a:gdLst/>
            <a:ahLst/>
            <a:cxnLst/>
            <a:rect l="l" t="t" r="r" b="b"/>
            <a:pathLst>
              <a:path w="814724" h="1267949">
                <a:moveTo>
                  <a:pt x="26914" y="0"/>
                </a:moveTo>
                <a:lnTo>
                  <a:pt x="787810" y="0"/>
                </a:lnTo>
                <a:cubicBezTo>
                  <a:pt x="802675" y="0"/>
                  <a:pt x="814724" y="12050"/>
                  <a:pt x="814724" y="26914"/>
                </a:cubicBezTo>
                <a:lnTo>
                  <a:pt x="814724" y="1241035"/>
                </a:lnTo>
                <a:cubicBezTo>
                  <a:pt x="814724" y="1255899"/>
                  <a:pt x="802675" y="1267949"/>
                  <a:pt x="787810" y="1267949"/>
                </a:cubicBezTo>
                <a:lnTo>
                  <a:pt x="26914" y="1267949"/>
                </a:lnTo>
                <a:cubicBezTo>
                  <a:pt x="12050" y="1267949"/>
                  <a:pt x="0" y="1255899"/>
                  <a:pt x="0" y="1241035"/>
                </a:cubicBezTo>
                <a:lnTo>
                  <a:pt x="0" y="26914"/>
                </a:lnTo>
                <a:cubicBezTo>
                  <a:pt x="0" y="12050"/>
                  <a:pt x="12050" y="0"/>
                  <a:pt x="26914" y="0"/>
                </a:cubicBezTo>
                <a:close/>
              </a:path>
            </a:pathLst>
          </a:custGeom>
          <a:blipFill>
            <a:blip r:embed="rId2"/>
            <a:stretch>
              <a:fillRect t="-199" b="-199"/>
            </a:stretch>
          </a:blipFill>
          <a:effectLst>
            <a:softEdge rad="127000"/>
          </a:effectLst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9FCBC-F132-4AAE-AF84-F52F3E0CA57D}" type="datetime1">
              <a:rPr lang="de-DE" smtClean="0"/>
              <a:t>02.06.2026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BitFlow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622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2AF1D79-55E0-449A-9E71-306971139423}" type="datetime1">
              <a:rPr lang="de-DE" noProof="0" smtClean="0"/>
              <a:t>02.06.2026</a:t>
            </a:fld>
            <a:endParaRPr lang="de-DE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de-DE" noProof="0"/>
              <a:t>BitFlow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6786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7414" y="876060"/>
            <a:ext cx="5431971" cy="846301"/>
          </a:xfrm>
        </p:spPr>
        <p:txBody>
          <a:bodyPr rtlCol="0" anchor="t">
            <a:noAutofit/>
          </a:bodyPr>
          <a:lstStyle>
            <a:lvl1pPr>
              <a:defRPr lang="en-US" sz="3200" b="1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75464" y="1722360"/>
            <a:ext cx="5793921" cy="4259579"/>
          </a:xfrm>
        </p:spPr>
        <p:txBody>
          <a:bodyPr rtlCol="0" anchor="t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23" name="Datumsplatzhalter 6">
            <a:extLst>
              <a:ext uri="{FF2B5EF4-FFF2-40B4-BE49-F238E27FC236}">
                <a16:creationId xmlns:a16="http://schemas.microsoft.com/office/drawing/2014/main" id="{30137A80-DFDF-451C-A7D8-DCBA37E4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 algn="l">
              <a:defRPr sz="9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24" name="Fußzeilenplatzhalter 7">
            <a:extLst>
              <a:ext uri="{FF2B5EF4-FFF2-40B4-BE49-F238E27FC236}">
                <a16:creationId xmlns:a16="http://schemas.microsoft.com/office/drawing/2014/main" id="{30E3791F-5EAD-45DD-A582-48B9EC2FC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 algn="ctr">
              <a:defRPr sz="9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de-DE"/>
              <a:t>BitFlow</a:t>
            </a:r>
          </a:p>
        </p:txBody>
      </p:sp>
      <p:sp>
        <p:nvSpPr>
          <p:cNvPr id="25" name="Foliennummernplatzhalter 8">
            <a:extLst>
              <a:ext uri="{FF2B5EF4-FFF2-40B4-BE49-F238E27FC236}">
                <a16:creationId xmlns:a16="http://schemas.microsoft.com/office/drawing/2014/main" id="{F1C9D7B7-6E65-41C5-ABC6-475B5A654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t"/>
          <a:lstStyle>
            <a:lvl1pPr>
              <a:defRPr sz="18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B5CEABB6-07DC-46E8-9B57-56EC44A396E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81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el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8898" y="612444"/>
            <a:ext cx="8305800" cy="846301"/>
          </a:xfrm>
        </p:spPr>
        <p:txBody>
          <a:bodyPr rtlCol="0" anchor="t">
            <a:noAutofit/>
          </a:bodyPr>
          <a:lstStyle>
            <a:lvl1pPr>
              <a:defRPr lang="en-US" sz="3600" b="1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25" name="Textplatzhalt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1458745"/>
            <a:ext cx="8696499" cy="4576295"/>
          </a:xfrm>
        </p:spPr>
        <p:txBody>
          <a:bodyPr rtlCol="0" anchor="t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742950" indent="-2857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</a:lstStyle>
          <a:p>
            <a:pPr lvl="0" rtl="0"/>
            <a:r>
              <a:rPr lang="de-DE" noProof="0"/>
              <a:t>Klicken Sie, um Text hinzuzufügen.</a:t>
            </a:r>
          </a:p>
          <a:p>
            <a:pPr lvl="1" rtl="0"/>
            <a:endParaRPr lang="de-DE" noProof="0"/>
          </a:p>
        </p:txBody>
      </p:sp>
      <p:sp>
        <p:nvSpPr>
          <p:cNvPr id="21" name="Datumsplatzhalt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 algn="l">
              <a:defRPr sz="9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22" name="Fußzeilenplatzhalt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 algn="ctr">
              <a:defRPr sz="9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de-DE"/>
              <a:t>BitFlow</a:t>
            </a:r>
          </a:p>
        </p:txBody>
      </p:sp>
      <p:sp>
        <p:nvSpPr>
          <p:cNvPr id="24" name="Foliennummernplatzhalt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t"/>
          <a:lstStyle>
            <a:lvl1pPr>
              <a:defRPr sz="18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B5CEABB6-07DC-46E8-9B57-56EC44A396E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6884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rtl="0"/>
            <a:fld id="{CA628670-5097-4685-AD8D-4E14E3E8F3C5}" type="datetime1">
              <a:rPr lang="de-DE" noProof="0" smtClean="0"/>
              <a:t>02.06.2026</a:t>
            </a:fld>
            <a:endParaRPr lang="de-DE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de-DE" err="1"/>
              <a:t>BitFlow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57566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29" r:id="rId2"/>
    <p:sldLayoutId id="2147483712" r:id="rId3"/>
    <p:sldLayoutId id="2147483724" r:id="rId4"/>
    <p:sldLayoutId id="2147483728" r:id="rId5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de-DE" sz="8000" err="1"/>
              <a:t>BitFlow</a:t>
            </a:r>
            <a:endParaRPr lang="de-DE" sz="60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1" y="3843868"/>
            <a:ext cx="6949771" cy="1021748"/>
          </a:xfrm>
        </p:spPr>
        <p:txBody>
          <a:bodyPr rtlCol="0">
            <a:normAutofit/>
          </a:bodyPr>
          <a:lstStyle/>
          <a:p>
            <a:pPr rtl="0"/>
            <a:r>
              <a:rPr lang="de-DE" sz="4800">
                <a:solidFill>
                  <a:schemeClr val="bg2">
                    <a:lumMod val="20000"/>
                    <a:lumOff val="80000"/>
                  </a:schemeClr>
                </a:solidFill>
              </a:rPr>
              <a:t>Abschlusspräsentation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14F4632-BCF6-4592-A7C6-3834A63A5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1131" y="5430730"/>
            <a:ext cx="1231720" cy="123172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F4731AC-A64F-4ABE-AF63-1770EBFFAEE3}"/>
              </a:ext>
            </a:extLst>
          </p:cNvPr>
          <p:cNvSpPr txBox="1"/>
          <p:nvPr/>
        </p:nvSpPr>
        <p:spPr>
          <a:xfrm>
            <a:off x="684211" y="6257466"/>
            <a:ext cx="659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Florian Blum; Moritz Czekalski; Simon Just; Mohid Syed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7414" y="876060"/>
            <a:ext cx="5431971" cy="846301"/>
          </a:xfrm>
        </p:spPr>
        <p:txBody>
          <a:bodyPr rtlCol="0">
            <a:normAutofit/>
          </a:bodyPr>
          <a:lstStyle/>
          <a:p>
            <a:r>
              <a:rPr lang="de-DE"/>
              <a:t>Gliederung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CE32401-FE07-4033-B249-CE8E78F436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75464" y="1722360"/>
            <a:ext cx="5793921" cy="4259579"/>
          </a:xfrm>
        </p:spPr>
        <p:txBody>
          <a:bodyPr anchor="t"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de-DE"/>
              <a:t>Projektvision</a:t>
            </a:r>
          </a:p>
          <a:p>
            <a:pPr marL="457200" indent="-457200">
              <a:buFont typeface="+mj-lt"/>
              <a:buAutoNum type="arabicPeriod"/>
            </a:pPr>
            <a:r>
              <a:rPr lang="de-DE"/>
              <a:t>Architekturentscheidungen</a:t>
            </a:r>
          </a:p>
          <a:p>
            <a:pPr marL="457200" indent="-457200">
              <a:buFont typeface="+mj-lt"/>
              <a:buAutoNum type="arabicPeriod"/>
            </a:pPr>
            <a:r>
              <a:rPr lang="de-DE"/>
              <a:t>Design-Patterns</a:t>
            </a:r>
          </a:p>
          <a:p>
            <a:pPr marL="457200" indent="-457200">
              <a:buFont typeface="+mj-lt"/>
              <a:buAutoNum type="arabicPeriod"/>
            </a:pPr>
            <a:r>
              <a:rPr lang="de-DE"/>
              <a:t>Tech-Stack</a:t>
            </a:r>
          </a:p>
          <a:p>
            <a:pPr marL="457200" indent="-457200">
              <a:buFont typeface="+mj-lt"/>
              <a:buAutoNum type="arabicPeriod"/>
            </a:pPr>
            <a:r>
              <a:rPr lang="de-DE"/>
              <a:t>Qualitätssicherung</a:t>
            </a:r>
          </a:p>
          <a:p>
            <a:pPr marL="457200" indent="-457200">
              <a:buFont typeface="+mj-lt"/>
              <a:buAutoNum type="arabicPeriod"/>
            </a:pPr>
            <a:r>
              <a:rPr lang="de-DE"/>
              <a:t>CI/CD-Pipeline</a:t>
            </a:r>
          </a:p>
          <a:p>
            <a:pPr marL="457200" indent="-457200">
              <a:buFont typeface="+mj-lt"/>
              <a:buAutoNum type="arabicPeriod"/>
            </a:pPr>
            <a:r>
              <a:rPr lang="de-DE"/>
              <a:t>Live Demonstration</a:t>
            </a:r>
          </a:p>
          <a:p>
            <a:pPr marL="457200" indent="-457200">
              <a:buFont typeface="+mj-lt"/>
              <a:buAutoNum type="arabicPeriod"/>
            </a:pPr>
            <a:r>
              <a:rPr lang="de-DE"/>
              <a:t>Projektmanagement</a:t>
            </a:r>
          </a:p>
          <a:p>
            <a:pPr marL="457200" indent="-457200">
              <a:buFont typeface="+mj-lt"/>
              <a:buAutoNum type="arabicPeriod"/>
            </a:pPr>
            <a:r>
              <a:rPr lang="de-DE" err="1"/>
              <a:t>Learnings</a:t>
            </a:r>
            <a:endParaRPr lang="de-DE">
              <a:ea typeface="Cambria"/>
            </a:endParaRPr>
          </a:p>
          <a:p>
            <a:pPr marL="457200" indent="-457200">
              <a:buClr>
                <a:srgbClr val="FFFFFF"/>
              </a:buClr>
              <a:buAutoNum type="arabicPeriod"/>
            </a:pPr>
            <a:r>
              <a:rPr lang="de-DE">
                <a:ea typeface="Cambria"/>
              </a:rPr>
              <a:t>Ausblick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fld id="{5BC0D1D7-437C-405F-8618-152340F86906}" type="datetime1">
              <a:rPr lang="de-DE" smtClean="0">
                <a:solidFill>
                  <a:schemeClr val="bg2">
                    <a:lumMod val="75000"/>
                  </a:schemeClr>
                </a:solidFill>
              </a:rPr>
              <a:pPr/>
              <a:t>02.06.2026</a:t>
            </a:fld>
            <a:endParaRPr lang="de-DE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de-DE" err="1"/>
              <a:t>BitFlow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fld id="{19B51A1E-902D-48AF-9020-955120F399B6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Projektvision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Browserbasierter Editor + Simulator für Logikschaltungen</a:t>
            </a:r>
          </a:p>
          <a:p>
            <a:r>
              <a:rPr lang="de-DE"/>
              <a:t>Ziele: </a:t>
            </a:r>
          </a:p>
          <a:p>
            <a:pPr lvl="1"/>
            <a:r>
              <a:rPr lang="de-DE"/>
              <a:t>Gatter-Simulation</a:t>
            </a:r>
          </a:p>
          <a:p>
            <a:pPr lvl="1"/>
            <a:r>
              <a:rPr lang="de-DE"/>
              <a:t>visuelle Schaltungsbearbeitung</a:t>
            </a:r>
          </a:p>
          <a:p>
            <a:pPr lvl="1"/>
            <a:r>
              <a:rPr lang="de-DE"/>
              <a:t>Signalvisualisierung</a:t>
            </a:r>
          </a:p>
          <a:p>
            <a:pPr lvl="1"/>
            <a:r>
              <a:rPr lang="de-DE"/>
              <a:t>Intuitive Bedienung</a:t>
            </a:r>
          </a:p>
          <a:p>
            <a:pPr lvl="1"/>
            <a:r>
              <a:rPr lang="de-DE"/>
              <a:t>Gemeinsames Lernen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301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Projektvision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Funktionen: </a:t>
            </a:r>
          </a:p>
          <a:p>
            <a:pPr lvl="1"/>
            <a:r>
              <a:rPr lang="de-DE"/>
              <a:t>Drag &amp; Drop</a:t>
            </a:r>
            <a:endParaRPr lang="de-DE">
              <a:ea typeface="Cambria" panose="02040503050406030204"/>
            </a:endParaRPr>
          </a:p>
          <a:p>
            <a:pPr lvl="1"/>
            <a:r>
              <a:rPr lang="de-DE"/>
              <a:t>Echtzeitsimulation</a:t>
            </a:r>
            <a:endParaRPr lang="de-DE">
              <a:ea typeface="Cambria" panose="02040503050406030204"/>
            </a:endParaRPr>
          </a:p>
          <a:p>
            <a:pPr lvl="1"/>
            <a:r>
              <a:rPr lang="de-DE"/>
              <a:t>Eigene Gatter</a:t>
            </a:r>
            <a:endParaRPr lang="de-DE">
              <a:ea typeface="Cambria" panose="02040503050406030204"/>
            </a:endParaRPr>
          </a:p>
          <a:p>
            <a:pPr lvl="1"/>
            <a:r>
              <a:rPr lang="de-DE"/>
              <a:t>Mehrbenutzer-Sessions</a:t>
            </a:r>
            <a:endParaRPr lang="de-DE">
              <a:ea typeface="Cambria" panose="02040503050406030204"/>
            </a:endParaRPr>
          </a:p>
          <a:p>
            <a:pPr lvl="1"/>
            <a:r>
              <a:rPr lang="de-DE"/>
              <a:t>Anpassbares UI</a:t>
            </a:r>
            <a:endParaRPr lang="de-DE">
              <a:ea typeface="Cambria" panose="02040503050406030204"/>
            </a:endParaRPr>
          </a:p>
          <a:p>
            <a:pPr lvl="1"/>
            <a:r>
              <a:rPr lang="de-DE"/>
              <a:t>Riesiger Canvas</a:t>
            </a:r>
            <a:endParaRPr lang="de-DE">
              <a:ea typeface="Cambria" panose="02040503050406030204"/>
            </a:endParaRPr>
          </a:p>
          <a:p>
            <a:endParaRPr lang="de-DE">
              <a:ea typeface="Cambria" panose="02040503050406030204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409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Architekturentscheidungen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de-DE">
                <a:ea typeface="Cambria" panose="02040503050406030204"/>
              </a:rPr>
              <a:t>4+1 </a:t>
            </a:r>
            <a:r>
              <a:rPr lang="de-DE" err="1">
                <a:ea typeface="Cambria" panose="02040503050406030204"/>
              </a:rPr>
              <a:t>Sichtenmodell</a:t>
            </a:r>
          </a:p>
          <a:p>
            <a:pPr lvl="1"/>
            <a:r>
              <a:rPr lang="de-DE">
                <a:ea typeface="Cambria" panose="02040503050406030204"/>
              </a:rPr>
              <a:t>UI</a:t>
            </a:r>
          </a:p>
          <a:p>
            <a:pPr lvl="1"/>
            <a:r>
              <a:rPr lang="de-DE">
                <a:ea typeface="Cambria" panose="02040503050406030204"/>
              </a:rPr>
              <a:t>Domain</a:t>
            </a:r>
          </a:p>
          <a:p>
            <a:pPr lvl="1"/>
            <a:r>
              <a:rPr lang="de-DE">
                <a:ea typeface="Cambria" panose="02040503050406030204"/>
              </a:rPr>
              <a:t>Simulation</a:t>
            </a:r>
          </a:p>
          <a:p>
            <a:pPr lvl="1"/>
            <a:r>
              <a:rPr lang="de-DE">
                <a:ea typeface="Cambria" panose="02040503050406030204"/>
              </a:rPr>
              <a:t>Storage</a:t>
            </a:r>
          </a:p>
          <a:p>
            <a:pPr lvl="1"/>
            <a:r>
              <a:rPr lang="de-DE">
                <a:ea typeface="Cambria" panose="02040503050406030204"/>
              </a:rPr>
              <a:t>Library</a:t>
            </a:r>
          </a:p>
          <a:p>
            <a:r>
              <a:rPr lang="de-DE">
                <a:ea typeface="Cambria" panose="02040503050406030204"/>
              </a:rPr>
              <a:t>Simulation isoliert (eigener Prozess) </a:t>
            </a:r>
          </a:p>
          <a:p>
            <a:pPr marL="0" indent="0">
              <a:buNone/>
            </a:pPr>
            <a:r>
              <a:rPr lang="de-DE">
                <a:ea typeface="Cambria" panose="02040503050406030204"/>
              </a:rPr>
              <a:t>	⇒ UI bleibt responsiv</a:t>
            </a:r>
          </a:p>
          <a:p>
            <a:pPr marL="0" indent="0">
              <a:buNone/>
            </a:pPr>
            <a:endParaRPr lang="de-DE">
              <a:ea typeface="Cambria" panose="02040503050406030204"/>
            </a:endParaRPr>
          </a:p>
          <a:p>
            <a:endParaRPr lang="de-DE">
              <a:ea typeface="Cambria" panose="02040503050406030204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762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Design-Patterns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Factory - Baustein-Erzeugung</a:t>
            </a:r>
          </a:p>
          <a:p>
            <a:r>
              <a:rPr lang="de-DE" err="1"/>
              <a:t>Strategy</a:t>
            </a:r>
            <a:r>
              <a:rPr lang="de-DE"/>
              <a:t> - Simulations- / Validierungsstrategien</a:t>
            </a:r>
          </a:p>
          <a:p>
            <a:r>
              <a:rPr lang="de-DE"/>
              <a:t>Composite - Custom Components aus Sub-Schaltungen</a:t>
            </a:r>
          </a:p>
          <a:p>
            <a:r>
              <a:rPr lang="de-DE"/>
              <a:t>Observer &amp; Repository - UI-Updates / Persistenz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8789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Tech-Stack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05E2054D-57CA-4D2C-B6D9-F12C51C7A458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DE"/>
                  <a:t>Frontend</a:t>
                </a:r>
              </a:p>
              <a:p>
                <a:pPr lvl="1"/>
                <a:r>
                  <a:rPr lang="de-DE" err="1"/>
                  <a:t>React</a:t>
                </a:r>
                <a:r>
                  <a:rPr lang="de-DE"/>
                  <a:t> (Vite)</a:t>
                </a:r>
              </a:p>
              <a:p>
                <a:pPr lvl="1"/>
                <a:r>
                  <a:rPr lang="de-DE" err="1"/>
                  <a:t>TypeScript</a:t>
                </a:r>
                <a:r>
                  <a:rPr lang="de-DE"/>
                  <a:t> </a:t>
                </a:r>
              </a:p>
              <a:p>
                <a:r>
                  <a:rPr lang="de-DE"/>
                  <a:t>Backend: </a:t>
                </a:r>
              </a:p>
              <a:p>
                <a:pPr lvl="1"/>
                <a:r>
                  <a:rPr lang="de-DE"/>
                  <a:t>ASP.NET Core (.NET 8)</a:t>
                </a:r>
              </a:p>
              <a:p>
                <a:pPr lvl="1"/>
                <a:r>
                  <a:rPr lang="de-DE"/>
                  <a:t>EF Core (SQLite)</a:t>
                </a:r>
              </a:p>
              <a:p>
                <a:r>
                  <a:rPr lang="de-DE" err="1"/>
                  <a:t>Deployment</a:t>
                </a:r>
                <a:r>
                  <a:rPr lang="de-DE"/>
                  <a:t>: </a:t>
                </a:r>
              </a:p>
              <a:p>
                <a:pPr lvl="1"/>
                <a:r>
                  <a:rPr lang="de-DE"/>
                  <a:t>Docker </a:t>
                </a:r>
              </a:p>
              <a:p>
                <a:pPr lvl="1"/>
                <a:r>
                  <a:rPr lang="de-DE" err="1"/>
                  <a:t>nginx</a:t>
                </a:r>
                <a:r>
                  <a:rPr lang="de-DE"/>
                  <a:t> </a:t>
                </a:r>
              </a:p>
              <a:p>
                <a:pPr lvl="1"/>
                <a:r>
                  <a:rPr lang="de-DE"/>
                  <a:t>CI: GitHub Actions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de-DE"/>
                  <a:t> GHCR</a:t>
                </a:r>
              </a:p>
              <a:p>
                <a:endParaRPr lang="de-DE"/>
              </a:p>
            </p:txBody>
          </p:sp>
        </mc:Choice>
        <mc:Fallback xmlns="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05E2054D-57CA-4D2C-B6D9-F12C51C7A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491" t="-10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47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Qualitätssicherung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1458745"/>
            <a:ext cx="8696499" cy="1970255"/>
          </a:xfrm>
        </p:spPr>
        <p:txBody>
          <a:bodyPr/>
          <a:lstStyle/>
          <a:p>
            <a:r>
              <a:rPr lang="de-DE"/>
              <a:t>Frontend-Tests mit </a:t>
            </a:r>
            <a:r>
              <a:rPr lang="de-DE" err="1"/>
              <a:t>Vitest</a:t>
            </a:r>
            <a:r>
              <a:rPr lang="de-DE"/>
              <a:t> &amp; Coveralls</a:t>
            </a:r>
          </a:p>
          <a:p>
            <a:r>
              <a:rPr lang="de-DE"/>
              <a:t>Unit, </a:t>
            </a:r>
            <a:r>
              <a:rPr lang="de-DE" err="1"/>
              <a:t>Component</a:t>
            </a:r>
            <a:r>
              <a:rPr lang="de-DE"/>
              <a:t>, Integration, Smoke Tests</a:t>
            </a:r>
          </a:p>
          <a:p>
            <a:r>
              <a:rPr lang="de-DE"/>
              <a:t>CI führt Lint (</a:t>
            </a:r>
            <a:r>
              <a:rPr lang="de-DE" err="1"/>
              <a:t>Complexity</a:t>
            </a:r>
            <a:r>
              <a:rPr lang="de-DE"/>
              <a:t>), Tests und Coverage aus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C39B8FD-1B53-4FCE-9C3B-A8E9F75C0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04" y="3602509"/>
            <a:ext cx="3277057" cy="16861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2C1776D-F30E-451D-B679-C51F52BEF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8" y="3602509"/>
            <a:ext cx="5680789" cy="16861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55571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CI/CD-Pipeline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GitHub-Actions: </a:t>
            </a:r>
          </a:p>
          <a:p>
            <a:pPr lvl="1"/>
            <a:r>
              <a:rPr lang="de-DE"/>
              <a:t>frontend-test &amp; backend-test</a:t>
            </a:r>
          </a:p>
          <a:p>
            <a:pPr lvl="1"/>
            <a:r>
              <a:rPr lang="de-DE" err="1"/>
              <a:t>build</a:t>
            </a:r>
            <a:endParaRPr lang="de-DE"/>
          </a:p>
          <a:p>
            <a:pPr lvl="1"/>
            <a:r>
              <a:rPr lang="de-DE"/>
              <a:t>test-deploy</a:t>
            </a:r>
          </a:p>
          <a:p>
            <a:pPr lvl="1"/>
            <a:r>
              <a:rPr lang="de-DE"/>
              <a:t>deploy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9</a:t>
            </a:fld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AF950EC-78D4-444D-A5A7-F1AD47F2B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3853424"/>
            <a:ext cx="9021481" cy="14554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29142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CI/CD-Pipeline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05E2054D-57CA-4D2C-B6D9-F12C51C7A458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r>
                  <a:rPr lang="de-DE"/>
                  <a:t>Docker-Images (Frontend &amp; Backend)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de-DE"/>
                  <a:t> GHCR</a:t>
                </a:r>
              </a:p>
              <a:p>
                <a:r>
                  <a:rPr lang="de-DE"/>
                  <a:t>Test-Deploy startet Container</a:t>
                </a:r>
              </a:p>
              <a:p>
                <a:r>
                  <a:rPr lang="de-DE" err="1"/>
                  <a:t>RaspberryPi</a:t>
                </a:r>
                <a:endParaRPr lang="de-DE"/>
              </a:p>
              <a:p>
                <a:pPr lvl="1"/>
                <a:r>
                  <a:rPr lang="de-DE"/>
                  <a:t>Actions-Runner (</a:t>
                </a:r>
                <a:r>
                  <a:rPr lang="de-DE" err="1"/>
                  <a:t>build</a:t>
                </a:r>
                <a:r>
                  <a:rPr lang="de-DE"/>
                  <a:t>)</a:t>
                </a:r>
              </a:p>
              <a:p>
                <a:pPr lvl="1"/>
                <a:r>
                  <a:rPr lang="de-DE"/>
                  <a:t>Docker-Compose</a:t>
                </a:r>
              </a:p>
              <a:p>
                <a:pPr lvl="1"/>
                <a:r>
                  <a:rPr lang="de-DE" err="1"/>
                  <a:t>nginx</a:t>
                </a:r>
                <a:endParaRPr lang="de-DE"/>
              </a:p>
              <a:p>
                <a:pPr lvl="1"/>
                <a:r>
                  <a:rPr lang="de-DE"/>
                  <a:t>https: </a:t>
                </a:r>
                <a:r>
                  <a:rPr lang="de-DE" err="1"/>
                  <a:t>Let‘s</a:t>
                </a:r>
                <a:r>
                  <a:rPr lang="de-DE"/>
                  <a:t> </a:t>
                </a:r>
                <a:r>
                  <a:rPr lang="de-DE" err="1"/>
                  <a:t>Encrypt</a:t>
                </a:r>
                <a:endParaRPr lang="de-DE"/>
              </a:p>
              <a:p>
                <a:endParaRPr lang="de-DE"/>
              </a:p>
            </p:txBody>
          </p:sp>
        </mc:Choice>
        <mc:Fallback xmlns="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05E2054D-57CA-4D2C-B6D9-F12C51C7A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491" t="-10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132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802FD4-841B-8FA4-BD40-984906A3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Live Demonstration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28F632-E6A1-C557-CA8A-AD15FBBFD7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DD1A77-951A-E41F-9028-517980453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034BF6-092E-8DB6-E685-7FD0FBCF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95C65B-88EC-FF33-412B-FB771A61E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AB9AAB7-AD70-847A-31BF-D057A0F91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2398" y="1879600"/>
            <a:ext cx="30988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16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Anmeldeseite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9336AD1-60BB-3EAC-02A8-8097A417F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42" y="1486353"/>
            <a:ext cx="5422858" cy="3857624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5B7F3923-5098-4EDC-195A-FE797428D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458745"/>
            <a:ext cx="4191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42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Darkmode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E888108-1513-04ED-84A3-E1D7324F1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48" y="1648934"/>
            <a:ext cx="9004300" cy="451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252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Custom Gates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14</a:t>
            </a:fld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AFF9B9A-6C10-F4C7-9633-370014A3F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632" y="1440330"/>
            <a:ext cx="7596331" cy="491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30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Custom Gates Importieren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15</a:t>
            </a:fld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7D2CFC1-F213-D157-2BF8-E9ABD8AA4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038" y="1646438"/>
            <a:ext cx="7545519" cy="447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37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Live Demonstration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16</a:t>
            </a:fld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86C99DC-8AFE-80E6-1B66-DD224EEE5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064" y="2514258"/>
            <a:ext cx="7761468" cy="29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25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Generic</a:t>
            </a:r>
            <a:r>
              <a:rPr lang="de-DE" dirty="0"/>
              <a:t> Gate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17</a:t>
            </a:fld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816252F-BFDD-F91F-0C67-AD5ADDC0E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020" y="1261387"/>
            <a:ext cx="6853556" cy="529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35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Generic</a:t>
            </a:r>
            <a:r>
              <a:rPr lang="de-DE" dirty="0"/>
              <a:t> </a:t>
            </a:r>
            <a:r>
              <a:rPr lang="de-DE" dirty="0" err="1"/>
              <a:t>gate</a:t>
            </a:r>
            <a:r>
              <a:rPr lang="de-DE" dirty="0"/>
              <a:t> simulieren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18</a:t>
            </a:fld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288150DE-DCE0-94DA-B1BA-88566D2AB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78" y="2218063"/>
            <a:ext cx="9387439" cy="33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Mehrbenutzer </a:t>
            </a:r>
            <a:r>
              <a:rPr lang="de-DE" dirty="0" err="1"/>
              <a:t>modus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19</a:t>
            </a:fld>
            <a:endParaRPr lang="de-DE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C5451AF7-C35A-06C0-AB35-3814D811B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48" y="1310181"/>
            <a:ext cx="10015254" cy="493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58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Projektmanagement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Vorgehen: SCRUM; </a:t>
            </a:r>
            <a:r>
              <a:rPr lang="de-DE" err="1"/>
              <a:t>YouTrack</a:t>
            </a:r>
            <a:r>
              <a:rPr lang="de-DE"/>
              <a:t> </a:t>
            </a:r>
          </a:p>
          <a:p>
            <a:pPr>
              <a:buClr>
                <a:srgbClr val="FFFFFF"/>
              </a:buClr>
            </a:pPr>
            <a:r>
              <a:rPr lang="de-DE">
                <a:ea typeface="Cambria"/>
              </a:rPr>
              <a:t>2 Wochen Sprintlänge</a:t>
            </a:r>
            <a:endParaRPr lang="de-DE"/>
          </a:p>
          <a:p>
            <a:pPr>
              <a:buClr>
                <a:srgbClr val="FFFFFF"/>
              </a:buClr>
            </a:pPr>
            <a:r>
              <a:rPr lang="de-DE">
                <a:ea typeface="Cambria"/>
              </a:rPr>
              <a:t>1-mal in der Woche "Daily"-SCRUM (meist Freitag online)</a:t>
            </a:r>
            <a:endParaRPr lang="de-DE"/>
          </a:p>
          <a:p>
            <a:pPr>
              <a:buClr>
                <a:srgbClr val="FFFFFF"/>
              </a:buClr>
            </a:pPr>
            <a:endParaRPr lang="de-DE"/>
          </a:p>
          <a:p>
            <a:r>
              <a:rPr lang="de-DE"/>
              <a:t>Repo: GitHub; Feedback über GitHub-</a:t>
            </a:r>
            <a:r>
              <a:rPr lang="de-DE" err="1"/>
              <a:t>Discussions</a:t>
            </a:r>
            <a:endParaRPr lang="de-DE" err="1">
              <a:ea typeface="Cambria"/>
            </a:endParaRPr>
          </a:p>
          <a:p>
            <a:r>
              <a:rPr lang="de-DE">
                <a:ea typeface="Cambria"/>
              </a:rPr>
              <a:t>Besprechung der Feedbacks im Daily-SCRUM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5129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E4079B-2D8C-D274-D3CD-4ADF27205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898" y="612444"/>
            <a:ext cx="10341963" cy="846301"/>
          </a:xfrm>
        </p:spPr>
        <p:txBody>
          <a:bodyPr/>
          <a:lstStyle/>
          <a:p>
            <a:r>
              <a:rPr lang="de-DE" err="1">
                <a:ea typeface="Cambria"/>
              </a:rPr>
              <a:t>Burndown</a:t>
            </a:r>
            <a:r>
              <a:rPr lang="de-DE">
                <a:ea typeface="Cambria"/>
              </a:rPr>
              <a:t> </a:t>
            </a:r>
            <a:r>
              <a:rPr lang="de-DE" err="1">
                <a:ea typeface="Cambria"/>
              </a:rPr>
              <a:t>chart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931062-3822-80D9-749F-404EDACF68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DAA7B9-37BB-EA17-A812-BF3AA1DEA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51DA32-661B-1DA3-1E4F-88EC26C0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C312E-CC9E-94FF-48A0-6203C817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21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DCFE699-2667-7F9A-980E-3C8060EBB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3236"/>
            <a:ext cx="12192000" cy="425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70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BD6B-0BD4-4735-4428-73C23340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D6D4F-E7C7-0AB3-E27C-F8A605B3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Projektmanagement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B30890-A58A-6AD5-C679-D8985D5882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1458745"/>
            <a:ext cx="8925918" cy="4576295"/>
          </a:xfrm>
        </p:spPr>
        <p:txBody>
          <a:bodyPr/>
          <a:lstStyle/>
          <a:p>
            <a:r>
              <a:rPr lang="de-DE">
                <a:ea typeface="Cambria"/>
              </a:rPr>
              <a:t>Hauptaufgaben:</a:t>
            </a:r>
          </a:p>
          <a:p>
            <a:pPr lvl="1">
              <a:buClr>
                <a:srgbClr val="FFFFFF"/>
              </a:buClr>
              <a:buFont typeface="Wingdings" panose="020B0604020202020204" pitchFamily="34" charset="0"/>
              <a:buChar char="§"/>
            </a:pPr>
            <a:r>
              <a:rPr lang="de-DE" dirty="0">
                <a:ea typeface="Cambria"/>
              </a:rPr>
              <a:t>Florian Blum: Demo-Vorbereitung, Wochenaufgaben,</a:t>
            </a:r>
            <a:r>
              <a:rPr lang="de-DE">
                <a:ea typeface="Cambria"/>
              </a:rPr>
              <a:t> Gatter- &amp; Editordarstellung</a:t>
            </a:r>
            <a:r>
              <a:rPr lang="de-DE" dirty="0">
                <a:ea typeface="Cambria"/>
              </a:rPr>
              <a:t> </a:t>
            </a:r>
          </a:p>
          <a:p>
            <a:pPr lvl="1">
              <a:buClr>
                <a:srgbClr val="FFFFFF"/>
              </a:buClr>
              <a:buFont typeface="Wingdings" panose="020B0604020202020204" pitchFamily="34" charset="0"/>
              <a:buChar char="§"/>
            </a:pPr>
            <a:r>
              <a:rPr lang="de-DE">
                <a:ea typeface="Cambria"/>
              </a:rPr>
              <a:t>Moritz Czekalski: Backend, CI/CD-Pipeline, Benutzerverwaltung, Kabel-ziehen</a:t>
            </a:r>
          </a:p>
          <a:p>
            <a:pPr lvl="1">
              <a:buClr>
                <a:srgbClr val="FFFFFF"/>
              </a:buClr>
              <a:buFont typeface="Wingdings" panose="020B0604020202020204" pitchFamily="34" charset="0"/>
              <a:buChar char="§"/>
            </a:pPr>
            <a:r>
              <a:rPr lang="de-DE">
                <a:ea typeface="Cambria"/>
              </a:rPr>
              <a:t>Simon Just: SCRUM-Master, Custom Gates, Generic Gates</a:t>
            </a:r>
          </a:p>
          <a:p>
            <a:pPr lvl="1">
              <a:buClr>
                <a:srgbClr val="FFFFFF"/>
              </a:buClr>
              <a:buFont typeface="Wingdings" panose="020B0604020202020204" pitchFamily="34" charset="0"/>
              <a:buChar char="§"/>
            </a:pPr>
            <a:r>
              <a:rPr lang="de-DE">
                <a:ea typeface="Cambria"/>
              </a:rPr>
              <a:t>Mohid Syed: Gatter-Logik, Frontend-Design, Mehrbenutzer-Modus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55742B-9873-D761-EB71-6254B91D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D73B2B-E5B9-503F-FC74-F48AA3EB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7CB271-8244-37DD-F36C-1AC9CF7B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093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97CC3F-7143-D1E7-63CA-32843C35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ea typeface="Cambria"/>
              </a:rPr>
              <a:t>Zeiten pro person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889CC4-87FA-A63E-FDBD-AA3C34B509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B5921D-BFD8-01B0-F61F-3A27E25E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F36922-7125-52BF-6E83-96BE27322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E72DF6-42A5-2E98-756D-7722AACF0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23</a:t>
            </a:fld>
            <a:endParaRPr lang="de-DE"/>
          </a:p>
        </p:txBody>
      </p:sp>
      <p:pic>
        <p:nvPicPr>
          <p:cNvPr id="8" name="Grafik 7" descr="Ein Bild, das Text, Screenshot, Schrift, Software enthält.&#10;&#10;KI-generierte Inhalte können fehlerhaft sein.">
            <a:extLst>
              <a:ext uri="{FF2B5EF4-FFF2-40B4-BE49-F238E27FC236}">
                <a16:creationId xmlns:a16="http://schemas.microsoft.com/office/drawing/2014/main" id="{62787995-549B-2D96-6273-2F64F56CBA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36" r="180" b="240"/>
          <a:stretch>
            <a:fillRect/>
          </a:stretch>
        </p:blipFill>
        <p:spPr>
          <a:xfrm>
            <a:off x="2674815" y="1825381"/>
            <a:ext cx="5406307" cy="362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559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AF0AF-360D-4F17-8C0D-C13A78A5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Learnings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E2054D-57CA-4D2C-B6D9-F12C51C7A4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Klare Modultrennung (UI </a:t>
            </a:r>
            <a:r>
              <a:rPr lang="de-DE" err="1"/>
              <a:t>vs</a:t>
            </a:r>
            <a:r>
              <a:rPr lang="de-DE"/>
              <a:t> Simulation) erhöht Wartbarkeit</a:t>
            </a:r>
          </a:p>
          <a:p>
            <a:r>
              <a:rPr lang="de-DE"/>
              <a:t>Frühzeitige Tests &amp; CI vereinfacht Qualitätssicherung</a:t>
            </a:r>
          </a:p>
          <a:p>
            <a:pPr>
              <a:buClr>
                <a:srgbClr val="FFFFFF"/>
              </a:buClr>
            </a:pPr>
            <a:r>
              <a:rPr lang="de-DE">
                <a:ea typeface="Cambria"/>
              </a:rPr>
              <a:t>Gute Absprache hilft enorm</a:t>
            </a:r>
          </a:p>
          <a:p>
            <a:pPr>
              <a:buClr>
                <a:srgbClr val="FFFFFF"/>
              </a:buClr>
            </a:pPr>
            <a:endParaRPr lang="de-DE">
              <a:ea typeface="Cambria"/>
            </a:endParaRPr>
          </a:p>
          <a:p>
            <a:endParaRPr lang="de-DE">
              <a:ea typeface="Cambria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0C65F-126C-4334-BDCC-BD3F299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4598D1-34BB-49E6-947C-649D3583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48FAF-73B5-4068-9EBF-48FCA1FF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7285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93219B-750C-AFE0-A014-2EAA55EA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ea typeface="Cambria"/>
              </a:rPr>
              <a:t>Ausblick 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8C2C78-A9EE-2757-6F5C-8CA922D4E9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ea typeface="Cambria"/>
              </a:rPr>
              <a:t>Was wir nicht geschafft haben:</a:t>
            </a:r>
          </a:p>
          <a:p>
            <a:pPr lvl="1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de-DE">
                <a:ea typeface="+mn-lt"/>
                <a:cs typeface="+mn-lt"/>
              </a:rPr>
              <a:t>Projekte können lokal (z. B. als JSON-Datei) exportiert und importiert werden.</a:t>
            </a:r>
            <a:endParaRPr lang="de-DE">
              <a:ea typeface="Cambria"/>
            </a:endParaRPr>
          </a:p>
          <a:p>
            <a:pPr>
              <a:buClr>
                <a:srgbClr val="FFFFFF"/>
              </a:buClr>
            </a:pPr>
            <a:endParaRPr lang="de-DE">
              <a:ea typeface="Cambria"/>
            </a:endParaRPr>
          </a:p>
          <a:p>
            <a:pPr>
              <a:buClr>
                <a:srgbClr val="FFFFFF"/>
              </a:buClr>
            </a:pPr>
            <a:r>
              <a:rPr lang="de-DE">
                <a:ea typeface="Cambria"/>
              </a:rPr>
              <a:t>Was man noch erweitern könnte:</a:t>
            </a:r>
          </a:p>
          <a:p>
            <a:pPr lvl="1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de-DE">
                <a:ea typeface="Cambria"/>
              </a:rPr>
              <a:t>Richtiges Mailsystem</a:t>
            </a:r>
          </a:p>
          <a:p>
            <a:pPr lvl="1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de-DE">
                <a:ea typeface="Cambria"/>
              </a:rPr>
              <a:t>Automatische Clock</a:t>
            </a:r>
          </a:p>
          <a:p>
            <a:pPr lvl="1">
              <a:buClr>
                <a:srgbClr val="FFFFFF"/>
              </a:buClr>
              <a:buFont typeface="Courier New" panose="020B0604020202020204" pitchFamily="34" charset="0"/>
              <a:buChar char="o"/>
            </a:pPr>
            <a:r>
              <a:rPr lang="de-DE">
                <a:ea typeface="Cambria"/>
              </a:rPr>
              <a:t>Performance-Tests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47C6A4-99AE-8D4A-01EA-F80B154D9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2BE3-76C9-4662-9010-556118ECBB0B}" type="datetime1">
              <a:rPr lang="de-DE" smtClean="0"/>
              <a:pPr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3DE308-7CCD-EC22-EC80-5B807C02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BitFlow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A6005E-074D-03ED-8C8B-9854DEEC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de-DE" smtClean="0"/>
              <a:pPr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914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de-DE"/>
              <a:t>VIELEN DANK!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r>
              <a:rPr lang="de-DE">
                <a:solidFill>
                  <a:schemeClr val="tx1"/>
                </a:solidFill>
              </a:rPr>
              <a:t>Team </a:t>
            </a:r>
            <a:r>
              <a:rPr lang="de-DE" err="1">
                <a:solidFill>
                  <a:schemeClr val="tx1"/>
                </a:solidFill>
              </a:rPr>
              <a:t>BitFlow</a:t>
            </a:r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Segment">
  <a:themeElements>
    <a:clrScheme name="Warmes Blau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CF2EF3-001F-4BE9-81B3-86ECBBF9425F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F97B18F-50BC-4F30-8373-93489E845F83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www.w3.org/2000/xmlns/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TM02900771[[fn=Segment]]</Template>
  <TotalTime>0</TotalTime>
  <Words>769</Words>
  <Application>Microsoft Office PowerPoint</Application>
  <PresentationFormat>Breitbild</PresentationFormat>
  <Paragraphs>258</Paragraphs>
  <Slides>26</Slides>
  <Notes>25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4" baseType="lpstr">
      <vt:lpstr>Arial</vt:lpstr>
      <vt:lpstr>Calibri</vt:lpstr>
      <vt:lpstr>Cambria</vt:lpstr>
      <vt:lpstr>Cambria Math</vt:lpstr>
      <vt:lpstr>Courier New</vt:lpstr>
      <vt:lpstr>Wingdings</vt:lpstr>
      <vt:lpstr>Wingdings 3</vt:lpstr>
      <vt:lpstr>Segment</vt:lpstr>
      <vt:lpstr>BitFlow</vt:lpstr>
      <vt:lpstr>Gliederung</vt:lpstr>
      <vt:lpstr>Projektvision</vt:lpstr>
      <vt:lpstr>Projektvision</vt:lpstr>
      <vt:lpstr>Architekturentscheidungen</vt:lpstr>
      <vt:lpstr>Design-Patterns</vt:lpstr>
      <vt:lpstr>Tech-Stack</vt:lpstr>
      <vt:lpstr>Qualitätssicherung</vt:lpstr>
      <vt:lpstr>CI/CD-Pipeline</vt:lpstr>
      <vt:lpstr>CI/CD-Pipeline</vt:lpstr>
      <vt:lpstr>Live Demonstration</vt:lpstr>
      <vt:lpstr>Anmeldeseite</vt:lpstr>
      <vt:lpstr>Darkmode</vt:lpstr>
      <vt:lpstr>Custom Gates</vt:lpstr>
      <vt:lpstr>Custom Gates Importieren</vt:lpstr>
      <vt:lpstr>Live Demonstration</vt:lpstr>
      <vt:lpstr>Generic Gate </vt:lpstr>
      <vt:lpstr>Generic gate simulieren</vt:lpstr>
      <vt:lpstr>Mehrbenutzer modus</vt:lpstr>
      <vt:lpstr>Projektmanagement</vt:lpstr>
      <vt:lpstr>Burndown chart</vt:lpstr>
      <vt:lpstr>Projektmanagement</vt:lpstr>
      <vt:lpstr>Zeiten pro person</vt:lpstr>
      <vt:lpstr>Learnings</vt:lpstr>
      <vt:lpstr>Ausblick </vt:lpstr>
      <vt:lpstr>VIELEN DANK!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BitFlow</dc:title>
  <dc:creator>Moritz C.</dc:creator>
  <cp:lastModifiedBy>Simon Just</cp:lastModifiedBy>
  <cp:revision>49</cp:revision>
  <dcterms:created xsi:type="dcterms:W3CDTF">2026-05-31T19:53:34Z</dcterms:created>
  <dcterms:modified xsi:type="dcterms:W3CDTF">2026-06-02T14:58:56Z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